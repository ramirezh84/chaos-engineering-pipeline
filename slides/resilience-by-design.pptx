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by Design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what we learned into every new build — and shifting the tooling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discovering gaps to validating promises.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8B93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retrofit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63824" y="4498848"/>
            <a:ext cx="292608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4160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9A6A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CI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61304" y="4498848"/>
            <a:ext cx="292608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4160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2444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58784" y="4498848"/>
            <a:ext cx="292608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16" name="Shape 14"/>
          <p:cNvSpPr/>
          <p:nvPr/>
        </p:nvSpPr>
        <p:spPr>
          <a:xfrm>
            <a:off x="8915400" y="4160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1E6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1540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was the one-time retrofit. Prevention, validation and exploration are the steady state.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 — from identifying gaps to validating promises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109960" cy="1572768"/>
          </a:xfrm>
          <a:prstGeom prst="roundRect">
            <a:avLst>
              <a:gd name="adj" fmla="val 4651"/>
            </a:avLst>
          </a:prstGeom>
          <a:solidFill>
            <a:srgbClr val="FAFBFC"/>
          </a:solidFill>
          <a:ln w="16510">
            <a:solidFill>
              <a:srgbClr val="8B9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retrofit mode (discovery)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801368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B93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infrastructure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984248"/>
            <a:ext cx="1371600" cy="310896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and infers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57800" y="1801368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B93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947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reconstructed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63677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was never captured in a checkable form, so it must be reverse-engineered. Findings arrive years after the design review that assumed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109960" cy="1572768"/>
          </a:xfrm>
          <a:prstGeom prst="roundRect">
            <a:avLst>
              <a:gd name="adj" fmla="val 4651"/>
            </a:avLst>
          </a:prstGeom>
          <a:solidFill>
            <a:srgbClr val="EEF2FC"/>
          </a:solidFill>
          <a:ln w="16510">
            <a:solidFill>
              <a:srgbClr val="2444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9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BUILDS — by-design mode (validation)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630168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B9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76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intent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3813048"/>
            <a:ext cx="1371600" cy="310896"/>
          </a:xfrm>
          <a:prstGeom prst="rightArrow">
            <a:avLst/>
          </a:prstGeom>
          <a:solidFill>
            <a:srgbClr val="24449C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3630168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8B93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3776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346557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declares resilience as structured data. The tool diffs declaration against reality — gaps are caught at the pull request.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E6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389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6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opposite direction: discovery reads code to learn intent; validation reads intent to check code.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born self-describing — scan card and journey metadata generated at scaffold time — never need reverse-engineering again.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new design must declare — as data, not prose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286000" cy="1097280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1645920" cy="100584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591056"/>
            <a:ext cx="1645920" cy="100584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810512"/>
            <a:ext cx="1645920" cy="100584"/>
          </a:xfrm>
          <a:prstGeom prst="rect">
            <a:avLst/>
          </a:prstGeom>
          <a:solidFill>
            <a:srgbClr val="C9D6E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71800" y="1600200"/>
            <a:ext cx="502920" cy="292608"/>
          </a:xfrm>
          <a:prstGeom prst="rightArrow">
            <a:avLst/>
          </a:prstGeom>
          <a:solidFill>
            <a:srgbClr val="24449C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1887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EEF2FC"/>
          </a:solidFill>
          <a:ln w="15240">
            <a:solidFill>
              <a:srgbClr val="2444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structured,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4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machine-checkable  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37160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resilience section stops being paragraphs and becomes an artifact the pipeline can read — and test against.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06040"/>
            <a:ext cx="64008" cy="1280160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state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3136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SLIs per journey — what “healthy” means, with numbers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260604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2606040"/>
            <a:ext cx="64008" cy="1280160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0" name="Text 18"/>
          <p:cNvSpPr/>
          <p:nvPr/>
        </p:nvSpPr>
        <p:spPr>
          <a:xfrm>
            <a:off x="4544568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&amp; degradation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44568" y="3136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domain: expected behavior, degraded mode, what customers see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3296" y="260604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2606040"/>
            <a:ext cx="64008" cy="1280160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11896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&amp; fallbacks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11896" y="31363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timeout, retry budget and fallback each — “none” is a recorded decision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69080"/>
            <a:ext cx="64008" cy="1280160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Data-integrity posture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599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per write path; exactly-once effects where money moves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15968" y="40690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5968" y="4069080"/>
            <a:ext cx="64008" cy="1280160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2" name="Text 30"/>
          <p:cNvSpPr/>
          <p:nvPr/>
        </p:nvSpPr>
        <p:spPr>
          <a:xfrm>
            <a:off x="4544568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posture &amp; capacity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44568" y="4599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Active/active vs passive, failover trigger, DR-region capacity assumption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83296" y="406908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83296" y="4069080"/>
            <a:ext cx="64008" cy="1280160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6" name="Text 34"/>
          <p:cNvSpPr/>
          <p:nvPr/>
        </p:nvSpPr>
        <p:spPr>
          <a:xfrm>
            <a:off x="8311896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contract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11896" y="4599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alerts must fire per failure mode — designed with the failure, not after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7150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declaration doubles as a chaos hypothesis: the design review writes the experiment catalog for free.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describes. Pipelines prevent.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WAS documented before — drift happened anyway. Standards only stick when they are executable checks in the path to production: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1E6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56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1874520"/>
            <a:ext cx="91440" cy="11430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3035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956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resilience config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9472" y="1874520"/>
            <a:ext cx="91440" cy="11430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035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956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design-conformance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05472" y="1874520"/>
            <a:ext cx="91440" cy="11430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035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18288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956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895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micro-chaos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91472" y="1874520"/>
            <a:ext cx="91440" cy="1143000"/>
          </a:xfrm>
          <a:prstGeom prst="rect">
            <a:avLst/>
          </a:prstGeom>
          <a:solidFill>
            <a:srgbClr val="1A1D24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3035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784080" y="182880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9A6A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1956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755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watch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FBEAE6"/>
          </a:solidFill>
          <a:ln w="15240">
            <a:solidFill>
              <a:srgbClr val="C036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change without a declared fallback — blocked at the PR gate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3520440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E8F1EA"/>
          </a:solidFill>
          <a:ln w="15240">
            <a:solidFill>
              <a:srgbClr val="1E6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compliant change flows straight through to production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3434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4526280"/>
            <a:ext cx="310896" cy="310896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35" name="Text 33"/>
          <p:cNvSpPr/>
          <p:nvPr/>
        </p:nvSpPr>
        <p:spPr>
          <a:xfrm>
            <a:off x="128016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Paved road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" y="49194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and golden templates make the resilient choice the default: new services are born with breakers, timeouts, DLQs and self-describing metadata already wired.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43400" y="43434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4526280"/>
            <a:ext cx="310896" cy="310896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functions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0" y="49194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standard becomes an automated check that fails the build — every remote client declares a slow-call threshold; no consumer may silently lose messages.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46720" y="43434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4526280"/>
            <a:ext cx="310896" cy="310896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watch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75320" y="49194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 re-runs on a schedule; anything that decayed since the last release is a finding — config drift is a failing test, not background noise.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the retrofit found becomes a rule here — that is how lessons stop repeating.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never ends — it just gets cheaper per property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1E6E4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581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DAYS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0" y="143560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Exploratory: adversarial “break it in ways nobody designed for”, cross-domain compounds, DR drills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27080" y="1600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2203704"/>
            <a:ext cx="2926080" cy="713232"/>
          </a:xfrm>
          <a:prstGeom prst="roundRect">
            <a:avLst>
              <a:gd name="adj" fmla="val 6410"/>
            </a:avLst>
          </a:prstGeom>
          <a:solidFill>
            <a:srgbClr val="9A6A14">
              <a:alpha val="73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2368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222199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experiments on new findings and changed 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27080" y="23865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45920" y="2990088"/>
            <a:ext cx="4023360" cy="713232"/>
          </a:xfrm>
          <a:prstGeom prst="roundRect">
            <a:avLst>
              <a:gd name="adj" fmla="val 6410"/>
            </a:avLst>
          </a:prstGeom>
          <a:solidFill>
            <a:srgbClr val="24449C">
              <a:alpha val="61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TIME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3008376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micro-chaos: breaker trips, timeout order, restart idempotency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27080" y="31729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3776472"/>
            <a:ext cx="5120640" cy="713232"/>
          </a:xfrm>
          <a:prstGeom prst="roundRect">
            <a:avLst>
              <a:gd name="adj" fmla="val 6410"/>
            </a:avLst>
          </a:prstGeom>
          <a:solidFill>
            <a:srgbClr val="24449C">
              <a:alpha val="49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41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0" y="3794760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 verify the declared config exists in the 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27080" y="39593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6217920" cy="713232"/>
          </a:xfrm>
          <a:prstGeom prst="roundRect">
            <a:avLst>
              <a:gd name="adj" fmla="val 6410"/>
            </a:avLst>
          </a:prstGeom>
          <a:solidFill>
            <a:srgbClr val="8B93A1">
              <a:alpha val="37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2744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TIME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0" y="4581144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reviewed; every claim testable by construction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27080" y="47457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design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0" y="1078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experiment increases upward   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55046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automation increase downward   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2727"/>
            </a:avLst>
          </a:prstGeom>
          <a:solidFill>
            <a:srgbClr val="EEF2F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economics: automate the base so aggressively that human attention is reserved for the top — where the unknown-unknowns live.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industry converged on — and where we align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7532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apply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109960" cy="8046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673352"/>
            <a:ext cx="146304" cy="146304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chaos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hypotheses, real-world events, minimal blast radius — and the one most programs skip: automate to run continuously.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14173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adopted; regeneration makes “continuous” practical.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40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verification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24028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practitioners moved chaos out of calendar events and into the deploy pipeline.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75320" y="224028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release-time micro-chaos stage is exactly this.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11109960" cy="8046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319272"/>
            <a:ext cx="146304" cy="146304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63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days as exploration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programs keep human-led exercises whose goal is discovery, not regression.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75320" y="306324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quarterly budget; success measured in surprises found.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142232"/>
            <a:ext cx="146304" cy="146304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86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functions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8862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architectural qualities as automated tests that guard them over time.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38862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retrofit finding becomes one.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109960" cy="804672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4965192"/>
            <a:ext cx="146304" cy="146304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709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SLOs and error budgets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7091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targets per journey; budget burn shows where to aim the next experiment.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75320" y="470916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criticality and burn data feed prioritization.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" y="5788152"/>
            <a:ext cx="146304" cy="146304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532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Operational-resilience regulation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55321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 severe-but-plausible scenario testing and impact tolerances per business service.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75320" y="55321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Journey-level assertions map to that language — the program doubles as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honest challenges to “prevent it next time”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109960" cy="1325880"/>
          </a:xfrm>
          <a:prstGeom prst="roundRect">
            <a:avLst>
              <a:gd name="adj" fmla="val 482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64208"/>
            <a:ext cx="502920" cy="502920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4447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without enforcement is how we got here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54480" y="184708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standards drifted once already. If a lesson doesn’t become a scaffold default or a failing CI check, assume it will be relearned the hard way.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1109960" cy="1325880"/>
          </a:xfrm>
          <a:prstGeom prst="roundRect">
            <a:avLst>
              <a:gd name="adj" fmla="val 482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45536"/>
            <a:ext cx="502920" cy="502920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18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92608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Validation-only inherits the design’s blind spots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54480" y="332841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only test declared claims, the next incident comes from what nobody declared. Exploration needs its own protected budget, or validation will consume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11109960" cy="1325880"/>
          </a:xfrm>
          <a:prstGeom prst="roundRect">
            <a:avLst>
              <a:gd name="adj" fmla="val 482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26864"/>
            <a:ext cx="502920" cy="502920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00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40740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Beware chaos theater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480974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same green tests forever is compliance, not engineering. A scenario that keeps passing gets automated down the ladder and retired from human attention.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109960" cy="548640"/>
          </a:xfrm>
          <a:prstGeom prst="roundRect">
            <a:avLst>
              <a:gd name="adj" fmla="val 11667"/>
            </a:avLst>
          </a:prstGeom>
          <a:solidFill>
            <a:srgbClr val="EEF2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161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budget is a deliberate choice, not a leftover: reserve capacity for hunting failure modes nobody has thought of yet.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rhythm — and how we know it’s working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4440" y="2286000"/>
            <a:ext cx="9692640" cy="54864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2167128"/>
            <a:ext cx="292608" cy="29260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02736" y="2167128"/>
            <a:ext cx="292608" cy="29260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micro-chaos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diff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34456" y="2167128"/>
            <a:ext cx="292608" cy="292608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experiments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66176" y="2167128"/>
            <a:ext cx="292608" cy="292608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6092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game day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 drill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97896" y="2167128"/>
            <a:ext cx="292608" cy="292608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92640" y="25786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severe-but-plausible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331012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automated  →  more exploratory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that matter — every cadence item has one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4453128"/>
            <a:ext cx="146304" cy="146304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3708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declared resilience properties verified automatically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80560" y="4370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automation ratio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4453128"/>
            <a:ext cx="146304" cy="146304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708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new service scaffold to first validated claim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66960" y="4370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fast the paved road works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4965192"/>
            <a:ext cx="146304" cy="146304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8828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→ evidence-confirmed conversion across the fleet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80560" y="48828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scan completion, in one number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4965192"/>
            <a:ext cx="146304" cy="146304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8828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Surprises per game day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966960" y="48828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 is a warning sign, not a win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8680" y="5477256"/>
            <a:ext cx="146304" cy="146304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53949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in drills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80560" y="5394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should trend down every quarter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03504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without measurement is how programs turn into theater.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next new build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700784"/>
            <a:ext cx="192024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9050">
            <a:solidFill>
              <a:srgbClr val="1E6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77393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2084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as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58768" y="3273552"/>
            <a:ext cx="192024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3467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04488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defaults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 gates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4846320"/>
            <a:ext cx="192024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9194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52303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chaos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3273552"/>
            <a:ext cx="192024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9050">
            <a:solidFill>
              <a:srgbClr val="9A6A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34670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days find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unthought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rot="2700000">
            <a:off x="4157067" y="2508909"/>
            <a:ext cx="402336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18" name="Shape 16"/>
          <p:cNvSpPr/>
          <p:nvPr/>
        </p:nvSpPr>
        <p:spPr>
          <a:xfrm rot="8100000">
            <a:off x="4157067" y="4733139"/>
            <a:ext cx="402336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19" name="Shape 17"/>
          <p:cNvSpPr/>
          <p:nvPr/>
        </p:nvSpPr>
        <p:spPr>
          <a:xfrm rot="13500000">
            <a:off x="1932837" y="4733139"/>
            <a:ext cx="402336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20" name="Shape 18"/>
          <p:cNvSpPr/>
          <p:nvPr/>
        </p:nvSpPr>
        <p:spPr>
          <a:xfrm rot="18900000">
            <a:off x="1932837" y="2508909"/>
            <a:ext cx="402336" cy="256032"/>
          </a:xfrm>
          <a:prstGeom prst="rightArrow">
            <a:avLst/>
          </a:prstGeom>
          <a:solidFill>
            <a:srgbClr val="8B93A1"/>
          </a:solidFill>
          <a:ln/>
        </p:spPr>
      </p:sp>
      <p:sp>
        <p:nvSpPr>
          <p:cNvPr id="21" name="Shape 19"/>
          <p:cNvSpPr/>
          <p:nvPr/>
        </p:nvSpPr>
        <p:spPr>
          <a:xfrm>
            <a:off x="2532888" y="3383280"/>
            <a:ext cx="1426464" cy="731520"/>
          </a:xfrm>
          <a:prstGeom prst="ellipse">
            <a:avLst/>
          </a:prstGeom>
          <a:solidFill>
            <a:srgbClr val="EEF2FC"/>
          </a:solidFill>
          <a:ln/>
        </p:spPr>
      </p:sp>
      <p:sp>
        <p:nvSpPr>
          <p:cNvPr id="22" name="Text 20"/>
          <p:cNvSpPr/>
          <p:nvPr/>
        </p:nvSpPr>
        <p:spPr>
          <a:xfrm>
            <a:off x="2532888" y="345643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280160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EF2F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1389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self-describing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generates the service’s metadata and journey linkage on day one — nothing to reverse-engineer, ever.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487168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EF2FC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596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 writes the tests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2944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declaration is automatically a chaos hypothesis with a pass condition.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694176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EF2FC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803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Chaos-ready at first deploy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151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micro-chaos suite runs before the service ever takes real traffic.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901184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EF2FC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5010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pre-installed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53583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the retrofit found is already a scaffold default or a CI gate.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12648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is declared at design, enforced at build, validated at release — and explored forever.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2026-07-22T16:00:02Z</dcterms:created>
  <dcterms:modified xsi:type="dcterms:W3CDTF">2026-07-22T16:00:02Z</dcterms:modified>
</cp:coreProperties>
</file>