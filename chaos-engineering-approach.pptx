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bespoke failure experiments from what the code and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actually say — not from a generic checklist.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5" name="Shape 3"/>
          <p:cNvSpPr/>
          <p:nvPr/>
        </p:nvSpPr>
        <p:spPr>
          <a:xfrm>
            <a:off x="99822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6" name="Shape 4"/>
          <p:cNvSpPr/>
          <p:nvPr/>
        </p:nvSpPr>
        <p:spPr>
          <a:xfrm>
            <a:off x="117348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7" name="Shape 5"/>
          <p:cNvSpPr/>
          <p:nvPr/>
        </p:nvSpPr>
        <p:spPr>
          <a:xfrm>
            <a:off x="134874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8" name="Shape 6"/>
          <p:cNvSpPr/>
          <p:nvPr/>
        </p:nvSpPr>
        <p:spPr>
          <a:xfrm>
            <a:off x="152400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9" name="Shape 7"/>
          <p:cNvSpPr/>
          <p:nvPr/>
        </p:nvSpPr>
        <p:spPr>
          <a:xfrm>
            <a:off x="169926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11" name="Shape 9"/>
          <p:cNvSpPr/>
          <p:nvPr/>
        </p:nvSpPr>
        <p:spPr>
          <a:xfrm>
            <a:off x="2049780" y="4846320"/>
            <a:ext cx="126187" cy="310896"/>
          </a:xfrm>
          <a:prstGeom prst="rect">
            <a:avLst/>
          </a:prstGeom>
          <a:solidFill>
            <a:srgbClr val="C0361D"/>
          </a:solidFill>
          <a:ln/>
        </p:spPr>
      </p:sp>
      <p:sp>
        <p:nvSpPr>
          <p:cNvPr id="12" name="Shape 10"/>
          <p:cNvSpPr/>
          <p:nvPr/>
        </p:nvSpPr>
        <p:spPr>
          <a:xfrm>
            <a:off x="222504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0030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4" name="Shape 12"/>
          <p:cNvSpPr/>
          <p:nvPr/>
        </p:nvSpPr>
        <p:spPr>
          <a:xfrm>
            <a:off x="257556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082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7" name="Shape 15"/>
          <p:cNvSpPr/>
          <p:nvPr/>
        </p:nvSpPr>
        <p:spPr>
          <a:xfrm>
            <a:off x="310134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8" name="Shape 16"/>
          <p:cNvSpPr/>
          <p:nvPr/>
        </p:nvSpPr>
        <p:spPr>
          <a:xfrm>
            <a:off x="327660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19" name="Shape 17"/>
          <p:cNvSpPr/>
          <p:nvPr/>
        </p:nvSpPr>
        <p:spPr>
          <a:xfrm>
            <a:off x="345186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20" name="Shape 18"/>
          <p:cNvSpPr/>
          <p:nvPr/>
        </p:nvSpPr>
        <p:spPr>
          <a:xfrm>
            <a:off x="362712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21" name="Shape 19"/>
          <p:cNvSpPr/>
          <p:nvPr/>
        </p:nvSpPr>
        <p:spPr>
          <a:xfrm>
            <a:off x="380238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22" name="Shape 20"/>
          <p:cNvSpPr/>
          <p:nvPr/>
        </p:nvSpPr>
        <p:spPr>
          <a:xfrm>
            <a:off x="397764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23" name="Shape 21"/>
          <p:cNvSpPr/>
          <p:nvPr/>
        </p:nvSpPr>
        <p:spPr>
          <a:xfrm>
            <a:off x="4152900" y="4846320"/>
            <a:ext cx="126187" cy="310896"/>
          </a:xfrm>
          <a:prstGeom prst="rect">
            <a:avLst/>
          </a:prstGeom>
          <a:solidFill>
            <a:srgbClr val="9A6A14"/>
          </a:solidFill>
          <a:ln/>
        </p:spPr>
      </p:sp>
      <p:sp>
        <p:nvSpPr>
          <p:cNvPr id="24" name="Shape 22"/>
          <p:cNvSpPr/>
          <p:nvPr/>
        </p:nvSpPr>
        <p:spPr>
          <a:xfrm>
            <a:off x="43281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34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6" name="Shape 24"/>
          <p:cNvSpPr/>
          <p:nvPr/>
        </p:nvSpPr>
        <p:spPr>
          <a:xfrm>
            <a:off x="467868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7" name="Shape 25"/>
          <p:cNvSpPr/>
          <p:nvPr/>
        </p:nvSpPr>
        <p:spPr>
          <a:xfrm>
            <a:off x="485394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29" name="Shape 27"/>
          <p:cNvSpPr/>
          <p:nvPr/>
        </p:nvSpPr>
        <p:spPr>
          <a:xfrm>
            <a:off x="52044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0" name="Shape 28"/>
          <p:cNvSpPr/>
          <p:nvPr/>
        </p:nvSpPr>
        <p:spPr>
          <a:xfrm>
            <a:off x="53797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1" name="Shape 29"/>
          <p:cNvSpPr/>
          <p:nvPr/>
        </p:nvSpPr>
        <p:spPr>
          <a:xfrm>
            <a:off x="555498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2" name="Shape 30"/>
          <p:cNvSpPr/>
          <p:nvPr/>
        </p:nvSpPr>
        <p:spPr>
          <a:xfrm>
            <a:off x="573024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4" name="Shape 32"/>
          <p:cNvSpPr/>
          <p:nvPr/>
        </p:nvSpPr>
        <p:spPr>
          <a:xfrm>
            <a:off x="60807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5" name="Shape 33"/>
          <p:cNvSpPr/>
          <p:nvPr/>
        </p:nvSpPr>
        <p:spPr>
          <a:xfrm>
            <a:off x="62560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6" name="Shape 34"/>
          <p:cNvSpPr/>
          <p:nvPr/>
        </p:nvSpPr>
        <p:spPr>
          <a:xfrm>
            <a:off x="643128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7" name="Shape 35"/>
          <p:cNvSpPr/>
          <p:nvPr/>
        </p:nvSpPr>
        <p:spPr>
          <a:xfrm>
            <a:off x="660654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8" name="Shape 36"/>
          <p:cNvSpPr/>
          <p:nvPr/>
        </p:nvSpPr>
        <p:spPr>
          <a:xfrm>
            <a:off x="678180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39" name="Shape 37"/>
          <p:cNvSpPr/>
          <p:nvPr/>
        </p:nvSpPr>
        <p:spPr>
          <a:xfrm>
            <a:off x="69570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1" name="Shape 39"/>
          <p:cNvSpPr/>
          <p:nvPr/>
        </p:nvSpPr>
        <p:spPr>
          <a:xfrm>
            <a:off x="730758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2" name="Shape 40"/>
          <p:cNvSpPr/>
          <p:nvPr/>
        </p:nvSpPr>
        <p:spPr>
          <a:xfrm>
            <a:off x="748284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3" name="Shape 41"/>
          <p:cNvSpPr/>
          <p:nvPr/>
        </p:nvSpPr>
        <p:spPr>
          <a:xfrm>
            <a:off x="765810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4" name="Shape 42"/>
          <p:cNvSpPr/>
          <p:nvPr/>
        </p:nvSpPr>
        <p:spPr>
          <a:xfrm>
            <a:off x="78333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5" name="Shape 43"/>
          <p:cNvSpPr/>
          <p:nvPr/>
        </p:nvSpPr>
        <p:spPr>
          <a:xfrm>
            <a:off x="80086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6" name="Shape 44"/>
          <p:cNvSpPr/>
          <p:nvPr/>
        </p:nvSpPr>
        <p:spPr>
          <a:xfrm>
            <a:off x="818388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7" name="Shape 45"/>
          <p:cNvSpPr/>
          <p:nvPr/>
        </p:nvSpPr>
        <p:spPr>
          <a:xfrm>
            <a:off x="835914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8" name="Shape 46"/>
          <p:cNvSpPr/>
          <p:nvPr/>
        </p:nvSpPr>
        <p:spPr>
          <a:xfrm>
            <a:off x="853440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0966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50" name="Shape 48"/>
          <p:cNvSpPr/>
          <p:nvPr/>
        </p:nvSpPr>
        <p:spPr>
          <a:xfrm>
            <a:off x="8884920" y="4846320"/>
            <a:ext cx="126187" cy="310896"/>
          </a:xfrm>
          <a:prstGeom prst="rect">
            <a:avLst/>
          </a:prstGeom>
          <a:solidFill>
            <a:srgbClr val="24449C"/>
          </a:solidFill>
          <a:ln/>
        </p:spPr>
      </p:sp>
      <p:sp>
        <p:nvSpPr>
          <p:cNvPr id="51" name="Shape 49"/>
          <p:cNvSpPr/>
          <p:nvPr/>
        </p:nvSpPr>
        <p:spPr>
          <a:xfrm>
            <a:off x="906018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2" name="Shape 50"/>
          <p:cNvSpPr/>
          <p:nvPr/>
        </p:nvSpPr>
        <p:spPr>
          <a:xfrm>
            <a:off x="923544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3" name="Shape 51"/>
          <p:cNvSpPr/>
          <p:nvPr/>
        </p:nvSpPr>
        <p:spPr>
          <a:xfrm>
            <a:off x="941070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4" name="Shape 52"/>
          <p:cNvSpPr/>
          <p:nvPr/>
        </p:nvSpPr>
        <p:spPr>
          <a:xfrm>
            <a:off x="958596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5" name="Shape 53"/>
          <p:cNvSpPr/>
          <p:nvPr/>
        </p:nvSpPr>
        <p:spPr>
          <a:xfrm>
            <a:off x="976122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6" name="Shape 54"/>
          <p:cNvSpPr/>
          <p:nvPr/>
        </p:nvSpPr>
        <p:spPr>
          <a:xfrm>
            <a:off x="993648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1174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8" name="Shape 56"/>
          <p:cNvSpPr/>
          <p:nvPr/>
        </p:nvSpPr>
        <p:spPr>
          <a:xfrm>
            <a:off x="1028700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59" name="Shape 57"/>
          <p:cNvSpPr/>
          <p:nvPr/>
        </p:nvSpPr>
        <p:spPr>
          <a:xfrm>
            <a:off x="1046226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60" name="Shape 58"/>
          <p:cNvSpPr/>
          <p:nvPr/>
        </p:nvSpPr>
        <p:spPr>
          <a:xfrm>
            <a:off x="1063752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61" name="Shape 59"/>
          <p:cNvSpPr/>
          <p:nvPr/>
        </p:nvSpPr>
        <p:spPr>
          <a:xfrm>
            <a:off x="1081278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62" name="Shape 60"/>
          <p:cNvSpPr/>
          <p:nvPr/>
        </p:nvSpPr>
        <p:spPr>
          <a:xfrm>
            <a:off x="1098804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3300" y="4846320"/>
            <a:ext cx="126187" cy="310896"/>
          </a:xfrm>
          <a:prstGeom prst="rect">
            <a:avLst/>
          </a:prstGeom>
          <a:solidFill>
            <a:srgbClr val="8B93A1"/>
          </a:solidFill>
          <a:ln/>
        </p:spPr>
      </p:sp>
      <p:sp>
        <p:nvSpPr>
          <p:cNvPr id="64" name="Text 62"/>
          <p:cNvSpPr/>
          <p:nvPr/>
        </p:nvSpPr>
        <p:spPr>
          <a:xfrm>
            <a:off x="822960" y="53035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in the program, one tick each, colored by computed risk — the whole catalog readable at a glance.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in one slide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 is hypothesis-driven failure testing: </a:t>
            </a:r>
            <a:pPr indent="0" marL="0">
              <a:buNone/>
            </a:pPr>
            <a:r>
              <a:rPr lang="en-US" sz="17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inject a fault a system claims to survive, and verify — with evidence — that it actually does.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AFB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STEADY STATE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“healthy”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means, measurably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52928" y="233172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AFB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496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HYPOTHESIZE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90088" y="29260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X fails, the journey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no worse than Y”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57216" y="233172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AFB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2496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INJECT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94376" y="29260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fault with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blast radius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61504" y="233172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AFB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98664" y="2496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OBSERVE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98664" y="29260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system behave?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monitoring detect it?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65792" y="233172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FAFB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2952" y="24963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LEARN &amp; FIX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902952" y="292608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design, 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 gap and re-test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pass conditions on every experiment: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recovered correctly, AND the failure was detected and alerted. A fault that heals silently is still a failed test — next time it may not heal.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on a regulated financial platform: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claims made in design reviews and DR documents are commitments. Chaos engineering is how those claims become verified facts instead of assumptions.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domains a real platform must survive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554480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Task/instance loss, scale-out failure, resource exhaustion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371600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304" y="1554480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failover, replication lag, connection storms, regional promotion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72784" y="1371600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554480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5" name="Text 13"/>
          <p:cNvSpPr/>
          <p:nvPr/>
        </p:nvSpPr>
        <p:spPr>
          <a:xfrm>
            <a:off x="6748272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5664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failover, cold-cache stampede, cache-as-datastore loss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34856" y="1371600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99448" y="1554480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9" name="Text 17"/>
          <p:cNvSpPr/>
          <p:nvPr/>
        </p:nvSpPr>
        <p:spPr>
          <a:xfrm>
            <a:off x="9610344" y="1481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17736" y="1874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outage, poison messages, duplicate delivery, consumer lag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127248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447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packet loss, AZ impairment, on-prem path loss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10712" y="2944368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75304" y="3127248"/>
            <a:ext cx="201168" cy="20116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ingress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93592" y="3447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throttling, idle timeouts, drain during deploys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2784" y="2944368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37376" y="3127248"/>
            <a:ext cx="201168" cy="201168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55664" y="3447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5xx, slow-but-alive “gray” failure, auth-provider outage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34856" y="2944368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99448" y="3127248"/>
            <a:ext cx="201168" cy="201168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35" name="Text 33"/>
          <p:cNvSpPr/>
          <p:nvPr/>
        </p:nvSpPr>
        <p:spPr>
          <a:xfrm>
            <a:off x="9610344" y="30540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&amp; secrets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317736" y="344728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retrieval outage, stale-config reloads, key-access denial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517136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4700016"/>
            <a:ext cx="201168" cy="201168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39" name="Text 37"/>
          <p:cNvSpPr/>
          <p:nvPr/>
        </p:nvSpPr>
        <p:spPr>
          <a:xfrm>
            <a:off x="1024128" y="4626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/ DR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502005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orchestration, DNS cutover, DR capacity, posture mismatches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410712" y="4517136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75304" y="4700016"/>
            <a:ext cx="201168" cy="201168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43" name="Text 41"/>
          <p:cNvSpPr/>
          <p:nvPr/>
        </p:nvSpPr>
        <p:spPr>
          <a:xfrm>
            <a:off x="3886200" y="4626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resilience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593592" y="502005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breakers, retries, bulkheads, timeout-chain ordering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72784" y="4517136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7376" y="4700016"/>
            <a:ext cx="201168" cy="201168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47" name="Text 45"/>
          <p:cNvSpPr/>
          <p:nvPr/>
        </p:nvSpPr>
        <p:spPr>
          <a:xfrm>
            <a:off x="6748272" y="4626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/ batch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55664" y="502005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 corrupt files, dual-trigger gaps, restart idempotency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134856" y="4517136"/>
            <a:ext cx="2679192" cy="1389888"/>
          </a:xfrm>
          <a:prstGeom prst="roundRect">
            <a:avLst>
              <a:gd name="adj" fmla="val 3947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99448" y="4700016"/>
            <a:ext cx="201168" cy="201168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51" name="Text 49"/>
          <p:cNvSpPr/>
          <p:nvPr/>
        </p:nvSpPr>
        <p:spPr>
          <a:xfrm>
            <a:off x="9610344" y="4626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Saga / rollback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317736" y="5020056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Compensation-step failure, partial-rollback visibility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program needs coverage across ALL of these — and most real incidents are compounds that cross two or three at once.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— knowing the domains isn’t knowing YOUR exposure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domains are universal. The exposure is not. </a:t>
            </a:r>
            <a:pPr indent="0" marL="0">
              <a:buNone/>
            </a:pPr>
            <a:r>
              <a:rPr lang="en-US" sz="16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domains threaten which service depends on facts buried in code and infrastructure: which client has a breaker, which timeout is unset, which DNS record fails over automatically, which consumer is idempotent.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is scattered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lives across dozens of repos, deploy configs, and environment overlays — no one person holds it all.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51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goes stale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308152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 describe intent at a point in time; config drifts the week after they’re drawn.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plans miss the point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tests the failure modes every system shares — and skips the specific gap that will cause YOUR incident.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4206240"/>
            <a:ext cx="5394960" cy="1463040"/>
          </a:xfrm>
          <a:prstGeom prst="roundRect">
            <a:avLst>
              <a:gd name="adj" fmla="val 4375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343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36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catalogs can’t keep up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37960" y="477316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scenario lists age with every release and silently lose relevance.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exists to close that gap: connect the universal failure domains to this platform’s actual, current, evidenced exposure.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was done before — and how it works now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2976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9244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with this framework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91056"/>
            <a:ext cx="11109960" cy="914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the architecture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interviews, reading docs — weeks per service, stale on arrival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92440" y="16459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read every app and infra repo — hours per fleet, pinned to exact commits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scenario list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257860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brainstorm from experience and templates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092440" y="2578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evidence: each scenario exists because a specific finding demands it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109960" cy="914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1129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and intuition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92440" y="3511296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likelihood × severity, weighted by journey criticality and data class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4443984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it current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444398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manual refresh — usually skipped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92440" y="4443984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pipeline on any change; the catalog regenerates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21808"/>
            <a:ext cx="11109960" cy="91440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37667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Trusting the result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297680" y="537667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author knows the system”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92440" y="537667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cites file + line; anyone can verify without trusting the tool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fits — and where it doesn’t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EEF2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the reading and drafting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application and infrastructure repo at fleet scale — work no team has capacity to do by hand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resilience facts (breakers, timeouts, retries, consumer settings) with file + line evidence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three views — journey graphs, code, deployed infra — and spots contradictions between them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and re-drafts the full scenario package on every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FAFBFC"/>
          </a:solidFill>
          <a:ln w="15875">
            <a:solidFill>
              <a:srgbClr val="DD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572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keep the judgment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05740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flagged conflicts between evidence 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compliance and business-risk calls (e.g., is failing open on a control acceptable?)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scoring weights against real incident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blast radius and run the actual experiments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that makes AI trustworthy here: </a:t>
            </a:r>
            <a:pPr indent="0" marL="0">
              <a:buNone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forbidden to assume. No evidence → no claim → a visible gap instead. AI provides scale; the evidence contract provides trust.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bespoke — generic catalogs test generic risks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4F5F7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chaos catalog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textbook failure modes every system shares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protections (breakers, timeouts, DLQs) exist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risk by intuition and generic likelihood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experiments for every service, every quarter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EEF2FC"/>
          </a:solidFill>
          <a:ln w="15875">
            <a:solidFill>
              <a:srgbClr val="2444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(this framework)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10312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gaps found in OUR code and OUR infra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drive the plan: a service with no circuit breaker; a client with 5 retries and no timeout; DNS failover that is manual, not automatic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computed from journey criticality, data class, and per-hop grade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regenerate automatically as services and journeys change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— evidence in, experiments out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graphs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scan cards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Infra-by-environment 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45536" y="29718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11296" y="21031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23317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94176" y="278892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reads every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infra repo; every fact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file + line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16752" y="29718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82512" y="21031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2444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23317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278892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 expands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evidence;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computed, not guessed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87968" y="29718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53728" y="210312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1E6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233172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6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36608" y="2788920"/>
            <a:ext cx="21214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workbook (xlsx)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interactive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HTML file)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892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any change — a new service, a new journey, a config change, or a quarterly drift check. The pipeline is the deliverable; each package is just its latest output.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accuracy contract — nothing is assumed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evidence → no scenario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inputs don't prove a component or behavior exists, no scenario is invented. The item lands in a visible Coverage Gaps list instead.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737360"/>
            <a:ext cx="384048" cy="384048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17190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 cites its 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240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scenario's “why” quotes the file, line, and value that generated it — reviewable without trusting the tool.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096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are surfaced, not resolved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617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sources disagree (e.g., replica count vs. autoscaling floor), the conflict is flagged for a human — never silently decided.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114800"/>
            <a:ext cx="384048" cy="384048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4096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deltas are findings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6177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test environment differs from production (fewer AZs, caching disabled), the affected scenarios carry an explicit validity caveat.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scenarios are organized and scored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per service and journey: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Application, Upstream, Downstream, Saga/rollback, Governance flags.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computed: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× Severity, weighted by journey criticality (P0–P3) and data class (money-movement &gt; state-mutating &gt; read-only).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injection, many assertions: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 is defined once per service; every journey that flows through it gets its own pass/fail assertion.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defects outrank hypotheses: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code already proves a bug, it is filed as a defect first; the scenario becomes its regression guard.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646920" y="1828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generated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6680" y="30175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31546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646920" y="34290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assertions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26680" y="461772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2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47548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646920" y="50292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surfaced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6263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worked example with just one journey and one service scan as input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— a complete chaos engineering package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 ranked by total computed risk, each with the reason and evidence behind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Catalog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scenario: hypothesis, evidence-cited “why”, tooling, score, wave, and trust status.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Matrix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scenario × journey: the specific pass condition the experiment must satisfy.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AFBFC"/>
          </a:solidFill>
          <a:ln w="12700">
            <a:solidFill>
              <a:srgbClr val="DD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Gaps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deliberately NOT generated, and why — unscanned services, unresolved hops, conflicts.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consumption modes from one run:  </a:t>
            </a:r>
            <a:pPr indent="0" marL="0">
              <a:buNone/>
            </a:pPr>
            <a:r>
              <a:rPr lang="en-US" sz="1500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workbook as the team's writable working copy, and a single-file interactive dashboard (no server, no install) for reviews and leadership walkthroughs.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visible in every row:  </a:t>
            </a:r>
            <a:pPr indent="0" marL="0">
              <a:buNone/>
            </a:pPr>
            <a:r>
              <a:rPr lang="en-US" sz="1500" b="1" dirty="0">
                <a:solidFill>
                  <a:srgbClr val="1E6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evidence-confirmed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</a:t>
            </a:r>
            <a:pPr indent="0" marL="0">
              <a:buNone/>
            </a:pPr>
            <a:r>
              <a:rPr lang="en-US" sz="1500" b="1" dirty="0">
                <a:solidFill>
                  <a:srgbClr val="9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declared, pending scan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›  </a:t>
            </a:r>
            <a:pPr indent="0" marL="0">
              <a:buNone/>
            </a:pPr>
            <a:r>
              <a:rPr lang="en-US" sz="1500" b="1" dirty="0">
                <a:solidFill>
                  <a:srgbClr val="C03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defect — fix first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worth doing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Chaos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26464"/>
            <a:ext cx="365760" cy="365760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371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what actually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15000" y="13716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target the weaknesses found in this platform's code and infrastructure — not a textbook's.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395728"/>
            <a:ext cx="365760" cy="365760"/>
          </a:xfrm>
          <a:prstGeom prst="ellipse">
            <a:avLst/>
          </a:prstGeom>
          <a:solidFill>
            <a:srgbClr val="C0361D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34086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defects before injecting anything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40864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“scenarios” turn out to be bugs the scan already proves; those are filed and fixed without running a single experiment.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64992"/>
            <a:ext cx="365760" cy="365760"/>
          </a:xfrm>
          <a:prstGeom prst="ellipse">
            <a:avLst/>
          </a:prstGeom>
          <a:solidFill>
            <a:srgbClr val="9A6A1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101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about test-environment validity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331012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test environment differs from production, results are labeled — no false confidence.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334256"/>
            <a:ext cx="365760" cy="365760"/>
          </a:xfrm>
          <a:prstGeom prst="ellipse">
            <a:avLst/>
          </a:prstGeom>
          <a:solidFill>
            <a:srgbClr val="1E6E4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279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and self-extending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0" y="427939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 or journey → re-run the pipeline → updated package. The evidence rules and templates are the durable asset.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24449C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524865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progress metric for leadership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15000" y="5248656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declared-to-confirmed rows IS the scan-completion percentage; gaps and defects are counted, not hidden.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2026-07-22T15:25:13Z</dcterms:created>
  <dcterms:modified xsi:type="dcterms:W3CDTF">2026-07-22T15:25:13Z</dcterms:modified>
</cp:coreProperties>
</file>