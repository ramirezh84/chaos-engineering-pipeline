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2588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Evidence-Based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Chaos Engineering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22960" y="33832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bespoke failure experiments from what the code and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actually say — not from a generic checklist.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22960" y="4800600"/>
            <a:ext cx="126187" cy="310896"/>
          </a:xfrm>
          <a:prstGeom prst="rect">
            <a:avLst/>
          </a:prstGeom>
          <a:solidFill>
            <a:srgbClr val="C0361D"/>
          </a:solidFill>
          <a:ln/>
        </p:spPr>
      </p:sp>
      <p:sp>
        <p:nvSpPr>
          <p:cNvPr id="5" name="Shape 3"/>
          <p:cNvSpPr/>
          <p:nvPr/>
        </p:nvSpPr>
        <p:spPr>
          <a:xfrm>
            <a:off x="998220" y="4800600"/>
            <a:ext cx="126187" cy="310896"/>
          </a:xfrm>
          <a:prstGeom prst="rect">
            <a:avLst/>
          </a:prstGeom>
          <a:solidFill>
            <a:srgbClr val="C0361D"/>
          </a:solidFill>
          <a:ln/>
        </p:spPr>
      </p:sp>
      <p:sp>
        <p:nvSpPr>
          <p:cNvPr id="6" name="Shape 4"/>
          <p:cNvSpPr/>
          <p:nvPr/>
        </p:nvSpPr>
        <p:spPr>
          <a:xfrm>
            <a:off x="1173480" y="4800600"/>
            <a:ext cx="126187" cy="310896"/>
          </a:xfrm>
          <a:prstGeom prst="rect">
            <a:avLst/>
          </a:prstGeom>
          <a:solidFill>
            <a:srgbClr val="C0361D"/>
          </a:solidFill>
          <a:ln/>
        </p:spPr>
      </p:sp>
      <p:sp>
        <p:nvSpPr>
          <p:cNvPr id="7" name="Shape 5"/>
          <p:cNvSpPr/>
          <p:nvPr/>
        </p:nvSpPr>
        <p:spPr>
          <a:xfrm>
            <a:off x="1348740" y="4800600"/>
            <a:ext cx="126187" cy="310896"/>
          </a:xfrm>
          <a:prstGeom prst="rect">
            <a:avLst/>
          </a:prstGeom>
          <a:solidFill>
            <a:srgbClr val="C0361D"/>
          </a:solidFill>
          <a:ln/>
        </p:spPr>
      </p:sp>
      <p:sp>
        <p:nvSpPr>
          <p:cNvPr id="8" name="Shape 6"/>
          <p:cNvSpPr/>
          <p:nvPr/>
        </p:nvSpPr>
        <p:spPr>
          <a:xfrm>
            <a:off x="1524000" y="4800600"/>
            <a:ext cx="126187" cy="310896"/>
          </a:xfrm>
          <a:prstGeom prst="rect">
            <a:avLst/>
          </a:prstGeom>
          <a:solidFill>
            <a:srgbClr val="C0361D"/>
          </a:solidFill>
          <a:ln/>
        </p:spPr>
      </p:sp>
      <p:sp>
        <p:nvSpPr>
          <p:cNvPr id="9" name="Shape 7"/>
          <p:cNvSpPr/>
          <p:nvPr/>
        </p:nvSpPr>
        <p:spPr>
          <a:xfrm>
            <a:off x="1699260" y="4800600"/>
            <a:ext cx="126187" cy="310896"/>
          </a:xfrm>
          <a:prstGeom prst="rect">
            <a:avLst/>
          </a:prstGeom>
          <a:solidFill>
            <a:srgbClr val="C0361D"/>
          </a:solidFill>
          <a:ln/>
        </p:spPr>
      </p:sp>
      <p:sp>
        <p:nvSpPr>
          <p:cNvPr id="10" name="Shape 8"/>
          <p:cNvSpPr/>
          <p:nvPr/>
        </p:nvSpPr>
        <p:spPr>
          <a:xfrm>
            <a:off x="1874520" y="4800600"/>
            <a:ext cx="126187" cy="310896"/>
          </a:xfrm>
          <a:prstGeom prst="rect">
            <a:avLst/>
          </a:prstGeom>
          <a:solidFill>
            <a:srgbClr val="C0361D"/>
          </a:solidFill>
          <a:ln/>
        </p:spPr>
      </p:sp>
      <p:sp>
        <p:nvSpPr>
          <p:cNvPr id="11" name="Shape 9"/>
          <p:cNvSpPr/>
          <p:nvPr/>
        </p:nvSpPr>
        <p:spPr>
          <a:xfrm>
            <a:off x="2049780" y="4800600"/>
            <a:ext cx="126187" cy="310896"/>
          </a:xfrm>
          <a:prstGeom prst="rect">
            <a:avLst/>
          </a:prstGeom>
          <a:solidFill>
            <a:srgbClr val="C0361D"/>
          </a:solidFill>
          <a:ln/>
        </p:spPr>
      </p:sp>
      <p:sp>
        <p:nvSpPr>
          <p:cNvPr id="12" name="Shape 10"/>
          <p:cNvSpPr/>
          <p:nvPr/>
        </p:nvSpPr>
        <p:spPr>
          <a:xfrm>
            <a:off x="2225040" y="4800600"/>
            <a:ext cx="126187" cy="310896"/>
          </a:xfrm>
          <a:prstGeom prst="rect">
            <a:avLst/>
          </a:prstGeom>
          <a:solidFill>
            <a:srgbClr val="9A6A14"/>
          </a:solidFill>
          <a:ln/>
        </p:spPr>
      </p:sp>
      <p:sp>
        <p:nvSpPr>
          <p:cNvPr id="13" name="Shape 11"/>
          <p:cNvSpPr/>
          <p:nvPr/>
        </p:nvSpPr>
        <p:spPr>
          <a:xfrm>
            <a:off x="2400300" y="4800600"/>
            <a:ext cx="126187" cy="310896"/>
          </a:xfrm>
          <a:prstGeom prst="rect">
            <a:avLst/>
          </a:prstGeom>
          <a:solidFill>
            <a:srgbClr val="9A6A14"/>
          </a:solidFill>
          <a:ln/>
        </p:spPr>
      </p:sp>
      <p:sp>
        <p:nvSpPr>
          <p:cNvPr id="14" name="Shape 12"/>
          <p:cNvSpPr/>
          <p:nvPr/>
        </p:nvSpPr>
        <p:spPr>
          <a:xfrm>
            <a:off x="2575560" y="4800600"/>
            <a:ext cx="126187" cy="310896"/>
          </a:xfrm>
          <a:prstGeom prst="rect">
            <a:avLst/>
          </a:prstGeom>
          <a:solidFill>
            <a:srgbClr val="9A6A14"/>
          </a:solidFill>
          <a:ln/>
        </p:spPr>
      </p:sp>
      <p:sp>
        <p:nvSpPr>
          <p:cNvPr id="15" name="Shape 13"/>
          <p:cNvSpPr/>
          <p:nvPr/>
        </p:nvSpPr>
        <p:spPr>
          <a:xfrm>
            <a:off x="2750820" y="4800600"/>
            <a:ext cx="126187" cy="310896"/>
          </a:xfrm>
          <a:prstGeom prst="rect">
            <a:avLst/>
          </a:prstGeom>
          <a:solidFill>
            <a:srgbClr val="9A6A14"/>
          </a:solidFill>
          <a:ln/>
        </p:spPr>
      </p:sp>
      <p:sp>
        <p:nvSpPr>
          <p:cNvPr id="16" name="Shape 14"/>
          <p:cNvSpPr/>
          <p:nvPr/>
        </p:nvSpPr>
        <p:spPr>
          <a:xfrm>
            <a:off x="2926080" y="4800600"/>
            <a:ext cx="126187" cy="310896"/>
          </a:xfrm>
          <a:prstGeom prst="rect">
            <a:avLst/>
          </a:prstGeom>
          <a:solidFill>
            <a:srgbClr val="9A6A14"/>
          </a:solidFill>
          <a:ln/>
        </p:spPr>
      </p:sp>
      <p:sp>
        <p:nvSpPr>
          <p:cNvPr id="17" name="Shape 15"/>
          <p:cNvSpPr/>
          <p:nvPr/>
        </p:nvSpPr>
        <p:spPr>
          <a:xfrm>
            <a:off x="3101340" y="4800600"/>
            <a:ext cx="126187" cy="310896"/>
          </a:xfrm>
          <a:prstGeom prst="rect">
            <a:avLst/>
          </a:prstGeom>
          <a:solidFill>
            <a:srgbClr val="9A6A14"/>
          </a:solidFill>
          <a:ln/>
        </p:spPr>
      </p:sp>
      <p:sp>
        <p:nvSpPr>
          <p:cNvPr id="18" name="Shape 16"/>
          <p:cNvSpPr/>
          <p:nvPr/>
        </p:nvSpPr>
        <p:spPr>
          <a:xfrm>
            <a:off x="3276600" y="4800600"/>
            <a:ext cx="126187" cy="310896"/>
          </a:xfrm>
          <a:prstGeom prst="rect">
            <a:avLst/>
          </a:prstGeom>
          <a:solidFill>
            <a:srgbClr val="9A6A14"/>
          </a:solidFill>
          <a:ln/>
        </p:spPr>
      </p:sp>
      <p:sp>
        <p:nvSpPr>
          <p:cNvPr id="19" name="Shape 17"/>
          <p:cNvSpPr/>
          <p:nvPr/>
        </p:nvSpPr>
        <p:spPr>
          <a:xfrm>
            <a:off x="3451860" y="4800600"/>
            <a:ext cx="126187" cy="310896"/>
          </a:xfrm>
          <a:prstGeom prst="rect">
            <a:avLst/>
          </a:prstGeom>
          <a:solidFill>
            <a:srgbClr val="9A6A14"/>
          </a:solidFill>
          <a:ln/>
        </p:spPr>
      </p:sp>
      <p:sp>
        <p:nvSpPr>
          <p:cNvPr id="20" name="Shape 18"/>
          <p:cNvSpPr/>
          <p:nvPr/>
        </p:nvSpPr>
        <p:spPr>
          <a:xfrm>
            <a:off x="3627120" y="4800600"/>
            <a:ext cx="126187" cy="310896"/>
          </a:xfrm>
          <a:prstGeom prst="rect">
            <a:avLst/>
          </a:prstGeom>
          <a:solidFill>
            <a:srgbClr val="9A6A14"/>
          </a:solidFill>
          <a:ln/>
        </p:spPr>
      </p:sp>
      <p:sp>
        <p:nvSpPr>
          <p:cNvPr id="21" name="Shape 19"/>
          <p:cNvSpPr/>
          <p:nvPr/>
        </p:nvSpPr>
        <p:spPr>
          <a:xfrm>
            <a:off x="3802380" y="4800600"/>
            <a:ext cx="126187" cy="310896"/>
          </a:xfrm>
          <a:prstGeom prst="rect">
            <a:avLst/>
          </a:prstGeom>
          <a:solidFill>
            <a:srgbClr val="9A6A14"/>
          </a:solidFill>
          <a:ln/>
        </p:spPr>
      </p:sp>
      <p:sp>
        <p:nvSpPr>
          <p:cNvPr id="22" name="Shape 20"/>
          <p:cNvSpPr/>
          <p:nvPr/>
        </p:nvSpPr>
        <p:spPr>
          <a:xfrm>
            <a:off x="3977640" y="4800600"/>
            <a:ext cx="126187" cy="310896"/>
          </a:xfrm>
          <a:prstGeom prst="rect">
            <a:avLst/>
          </a:prstGeom>
          <a:solidFill>
            <a:srgbClr val="9A6A14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2900" y="4800600"/>
            <a:ext cx="126187" cy="310896"/>
          </a:xfrm>
          <a:prstGeom prst="rect">
            <a:avLst/>
          </a:prstGeom>
          <a:solidFill>
            <a:srgbClr val="9A6A14"/>
          </a:solidFill>
          <a:ln/>
        </p:spPr>
      </p:sp>
      <p:sp>
        <p:nvSpPr>
          <p:cNvPr id="24" name="Shape 22"/>
          <p:cNvSpPr/>
          <p:nvPr/>
        </p:nvSpPr>
        <p:spPr>
          <a:xfrm>
            <a:off x="432816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25" name="Shape 23"/>
          <p:cNvSpPr/>
          <p:nvPr/>
        </p:nvSpPr>
        <p:spPr>
          <a:xfrm>
            <a:off x="450342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26" name="Shape 24"/>
          <p:cNvSpPr/>
          <p:nvPr/>
        </p:nvSpPr>
        <p:spPr>
          <a:xfrm>
            <a:off x="467868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27" name="Shape 25"/>
          <p:cNvSpPr/>
          <p:nvPr/>
        </p:nvSpPr>
        <p:spPr>
          <a:xfrm>
            <a:off x="485394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28" name="Shape 26"/>
          <p:cNvSpPr/>
          <p:nvPr/>
        </p:nvSpPr>
        <p:spPr>
          <a:xfrm>
            <a:off x="502920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29" name="Shape 27"/>
          <p:cNvSpPr/>
          <p:nvPr/>
        </p:nvSpPr>
        <p:spPr>
          <a:xfrm>
            <a:off x="520446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30" name="Shape 28"/>
          <p:cNvSpPr/>
          <p:nvPr/>
        </p:nvSpPr>
        <p:spPr>
          <a:xfrm>
            <a:off x="537972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31" name="Shape 29"/>
          <p:cNvSpPr/>
          <p:nvPr/>
        </p:nvSpPr>
        <p:spPr>
          <a:xfrm>
            <a:off x="555498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32" name="Shape 30"/>
          <p:cNvSpPr/>
          <p:nvPr/>
        </p:nvSpPr>
        <p:spPr>
          <a:xfrm>
            <a:off x="573024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33" name="Shape 31"/>
          <p:cNvSpPr/>
          <p:nvPr/>
        </p:nvSpPr>
        <p:spPr>
          <a:xfrm>
            <a:off x="590550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34" name="Shape 32"/>
          <p:cNvSpPr/>
          <p:nvPr/>
        </p:nvSpPr>
        <p:spPr>
          <a:xfrm>
            <a:off x="608076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35" name="Shape 33"/>
          <p:cNvSpPr/>
          <p:nvPr/>
        </p:nvSpPr>
        <p:spPr>
          <a:xfrm>
            <a:off x="625602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36" name="Shape 34"/>
          <p:cNvSpPr/>
          <p:nvPr/>
        </p:nvSpPr>
        <p:spPr>
          <a:xfrm>
            <a:off x="643128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37" name="Shape 35"/>
          <p:cNvSpPr/>
          <p:nvPr/>
        </p:nvSpPr>
        <p:spPr>
          <a:xfrm>
            <a:off x="660654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38" name="Shape 36"/>
          <p:cNvSpPr/>
          <p:nvPr/>
        </p:nvSpPr>
        <p:spPr>
          <a:xfrm>
            <a:off x="678180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39" name="Shape 37"/>
          <p:cNvSpPr/>
          <p:nvPr/>
        </p:nvSpPr>
        <p:spPr>
          <a:xfrm>
            <a:off x="695706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40" name="Shape 38"/>
          <p:cNvSpPr/>
          <p:nvPr/>
        </p:nvSpPr>
        <p:spPr>
          <a:xfrm>
            <a:off x="713232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41" name="Shape 39"/>
          <p:cNvSpPr/>
          <p:nvPr/>
        </p:nvSpPr>
        <p:spPr>
          <a:xfrm>
            <a:off x="730758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42" name="Shape 40"/>
          <p:cNvSpPr/>
          <p:nvPr/>
        </p:nvSpPr>
        <p:spPr>
          <a:xfrm>
            <a:off x="748284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43" name="Shape 41"/>
          <p:cNvSpPr/>
          <p:nvPr/>
        </p:nvSpPr>
        <p:spPr>
          <a:xfrm>
            <a:off x="765810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44" name="Shape 42"/>
          <p:cNvSpPr/>
          <p:nvPr/>
        </p:nvSpPr>
        <p:spPr>
          <a:xfrm>
            <a:off x="783336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45" name="Shape 43"/>
          <p:cNvSpPr/>
          <p:nvPr/>
        </p:nvSpPr>
        <p:spPr>
          <a:xfrm>
            <a:off x="800862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46" name="Shape 44"/>
          <p:cNvSpPr/>
          <p:nvPr/>
        </p:nvSpPr>
        <p:spPr>
          <a:xfrm>
            <a:off x="818388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47" name="Shape 45"/>
          <p:cNvSpPr/>
          <p:nvPr/>
        </p:nvSpPr>
        <p:spPr>
          <a:xfrm>
            <a:off x="835914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48" name="Shape 46"/>
          <p:cNvSpPr/>
          <p:nvPr/>
        </p:nvSpPr>
        <p:spPr>
          <a:xfrm>
            <a:off x="853440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49" name="Shape 47"/>
          <p:cNvSpPr/>
          <p:nvPr/>
        </p:nvSpPr>
        <p:spPr>
          <a:xfrm>
            <a:off x="870966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50" name="Shape 48"/>
          <p:cNvSpPr/>
          <p:nvPr/>
        </p:nvSpPr>
        <p:spPr>
          <a:xfrm>
            <a:off x="8884920" y="4800600"/>
            <a:ext cx="126187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51" name="Shape 49"/>
          <p:cNvSpPr/>
          <p:nvPr/>
        </p:nvSpPr>
        <p:spPr>
          <a:xfrm>
            <a:off x="9060180" y="4800600"/>
            <a:ext cx="126187" cy="310896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52" name="Shape 50"/>
          <p:cNvSpPr/>
          <p:nvPr/>
        </p:nvSpPr>
        <p:spPr>
          <a:xfrm>
            <a:off x="9235440" y="4800600"/>
            <a:ext cx="126187" cy="310896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53" name="Shape 51"/>
          <p:cNvSpPr/>
          <p:nvPr/>
        </p:nvSpPr>
        <p:spPr>
          <a:xfrm>
            <a:off x="9410700" y="4800600"/>
            <a:ext cx="126187" cy="310896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54" name="Shape 52"/>
          <p:cNvSpPr/>
          <p:nvPr/>
        </p:nvSpPr>
        <p:spPr>
          <a:xfrm>
            <a:off x="9585960" y="4800600"/>
            <a:ext cx="126187" cy="310896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55" name="Shape 53"/>
          <p:cNvSpPr/>
          <p:nvPr/>
        </p:nvSpPr>
        <p:spPr>
          <a:xfrm>
            <a:off x="9761220" y="4800600"/>
            <a:ext cx="126187" cy="310896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56" name="Shape 54"/>
          <p:cNvSpPr/>
          <p:nvPr/>
        </p:nvSpPr>
        <p:spPr>
          <a:xfrm>
            <a:off x="9936480" y="4800600"/>
            <a:ext cx="126187" cy="310896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57" name="Shape 55"/>
          <p:cNvSpPr/>
          <p:nvPr/>
        </p:nvSpPr>
        <p:spPr>
          <a:xfrm>
            <a:off x="10111740" y="4800600"/>
            <a:ext cx="126187" cy="310896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58" name="Shape 56"/>
          <p:cNvSpPr/>
          <p:nvPr/>
        </p:nvSpPr>
        <p:spPr>
          <a:xfrm>
            <a:off x="10287000" y="4800600"/>
            <a:ext cx="126187" cy="310896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59" name="Shape 57"/>
          <p:cNvSpPr/>
          <p:nvPr/>
        </p:nvSpPr>
        <p:spPr>
          <a:xfrm>
            <a:off x="10462260" y="4800600"/>
            <a:ext cx="126187" cy="310896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60" name="Shape 58"/>
          <p:cNvSpPr/>
          <p:nvPr/>
        </p:nvSpPr>
        <p:spPr>
          <a:xfrm>
            <a:off x="10637520" y="4800600"/>
            <a:ext cx="126187" cy="310896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61" name="Shape 59"/>
          <p:cNvSpPr/>
          <p:nvPr/>
        </p:nvSpPr>
        <p:spPr>
          <a:xfrm>
            <a:off x="10812780" y="4800600"/>
            <a:ext cx="126187" cy="310896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62" name="Shape 60"/>
          <p:cNvSpPr/>
          <p:nvPr/>
        </p:nvSpPr>
        <p:spPr>
          <a:xfrm>
            <a:off x="10988040" y="4800600"/>
            <a:ext cx="126187" cy="310896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63" name="Shape 61"/>
          <p:cNvSpPr/>
          <p:nvPr/>
        </p:nvSpPr>
        <p:spPr>
          <a:xfrm>
            <a:off x="11163300" y="4800600"/>
            <a:ext cx="126187" cy="310896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64" name="Text 62"/>
          <p:cNvSpPr/>
          <p:nvPr/>
        </p:nvSpPr>
        <p:spPr>
          <a:xfrm>
            <a:off x="822960" y="523036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in the program, one tick each, colored by computed risk — the whole catalog readable at a glance.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Chaos engineering in one slide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Chaos Engineering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Hypothesis-driven failure testing: </a:t>
            </a:r>
            <a:pPr indent="0" marL="0">
              <a:buNone/>
            </a:pPr>
            <a:r>
              <a:rPr lang="en-US" sz="150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inject a fault the system claims to survive, and verify — with evidence — that it does.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587752" y="2011680"/>
            <a:ext cx="186537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7780">
            <a:solidFill>
              <a:srgbClr val="24449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24328" y="2075688"/>
            <a:ext cx="1792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4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STEADY STATE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624328" y="2359152"/>
            <a:ext cx="1792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“healthy”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53115" y="3148983"/>
            <a:ext cx="186537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7780">
            <a:solidFill>
              <a:srgbClr val="24449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89691" y="3212991"/>
            <a:ext cx="1792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4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HYPOTHESIZE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89691" y="3496455"/>
            <a:ext cx="1792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behavior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555200" y="4989177"/>
            <a:ext cx="186537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7780">
            <a:solidFill>
              <a:srgbClr val="24449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91776" y="5053185"/>
            <a:ext cx="1792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4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INJECT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91776" y="5336649"/>
            <a:ext cx="1792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blast radius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20304" y="4989177"/>
            <a:ext cx="186537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7780">
            <a:solidFill>
              <a:srgbClr val="24449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56880" y="5053185"/>
            <a:ext cx="1792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4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OBSERVE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656880" y="5336649"/>
            <a:ext cx="1792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recovered? detected?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022389" y="3148983"/>
            <a:ext cx="186537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7780">
            <a:solidFill>
              <a:srgbClr val="24449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8965" y="3212991"/>
            <a:ext cx="1792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4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LEARN &amp; FIX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58965" y="3496455"/>
            <a:ext cx="1792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confirm, or file the gap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 rot="2160000">
            <a:off x="4295864" y="2572911"/>
            <a:ext cx="384048" cy="237744"/>
          </a:xfrm>
          <a:prstGeom prst="rightArrow">
            <a:avLst/>
          </a:prstGeom>
          <a:solidFill>
            <a:srgbClr val="8B93A1"/>
          </a:solidFill>
          <a:ln/>
        </p:spPr>
      </p:sp>
      <p:sp>
        <p:nvSpPr>
          <p:cNvPr id="22" name="Shape 20"/>
          <p:cNvSpPr/>
          <p:nvPr/>
        </p:nvSpPr>
        <p:spPr>
          <a:xfrm rot="6480000">
            <a:off x="4893779" y="4413105"/>
            <a:ext cx="384048" cy="237744"/>
          </a:xfrm>
          <a:prstGeom prst="rightArrow">
            <a:avLst/>
          </a:prstGeom>
          <a:solidFill>
            <a:srgbClr val="8B93A1"/>
          </a:solidFill>
          <a:ln/>
        </p:spPr>
      </p:sp>
      <p:sp>
        <p:nvSpPr>
          <p:cNvPr id="23" name="Shape 21"/>
          <p:cNvSpPr/>
          <p:nvPr/>
        </p:nvSpPr>
        <p:spPr>
          <a:xfrm rot="10800000">
            <a:off x="3328416" y="5550408"/>
            <a:ext cx="384048" cy="237744"/>
          </a:xfrm>
          <a:prstGeom prst="rightArrow">
            <a:avLst/>
          </a:prstGeom>
          <a:solidFill>
            <a:srgbClr val="8B93A1"/>
          </a:solidFill>
          <a:ln/>
        </p:spPr>
      </p:sp>
      <p:sp>
        <p:nvSpPr>
          <p:cNvPr id="24" name="Shape 22"/>
          <p:cNvSpPr/>
          <p:nvPr/>
        </p:nvSpPr>
        <p:spPr>
          <a:xfrm rot="15120000">
            <a:off x="1763053" y="4413105"/>
            <a:ext cx="384048" cy="237744"/>
          </a:xfrm>
          <a:prstGeom prst="rightArrow">
            <a:avLst/>
          </a:prstGeom>
          <a:solidFill>
            <a:srgbClr val="8B93A1"/>
          </a:solidFill>
          <a:ln/>
        </p:spPr>
      </p:sp>
      <p:sp>
        <p:nvSpPr>
          <p:cNvPr id="25" name="Shape 23"/>
          <p:cNvSpPr/>
          <p:nvPr/>
        </p:nvSpPr>
        <p:spPr>
          <a:xfrm rot="19440000">
            <a:off x="2360968" y="2572911"/>
            <a:ext cx="384048" cy="237744"/>
          </a:xfrm>
          <a:prstGeom prst="rightArrow">
            <a:avLst/>
          </a:prstGeom>
          <a:solidFill>
            <a:srgbClr val="8B93A1"/>
          </a:solidFill>
          <a:ln/>
        </p:spPr>
      </p:sp>
      <p:sp>
        <p:nvSpPr>
          <p:cNvPr id="26" name="Shape 24"/>
          <p:cNvSpPr/>
          <p:nvPr/>
        </p:nvSpPr>
        <p:spPr>
          <a:xfrm>
            <a:off x="2862072" y="3639312"/>
            <a:ext cx="1316736" cy="768096"/>
          </a:xfrm>
          <a:prstGeom prst="ellipse">
            <a:avLst/>
          </a:prstGeom>
          <a:solidFill>
            <a:srgbClr val="EEF2FC"/>
          </a:solidFill>
          <a:ln/>
        </p:spPr>
      </p:sp>
      <p:sp>
        <p:nvSpPr>
          <p:cNvPr id="27" name="Text 25"/>
          <p:cNvSpPr/>
          <p:nvPr/>
        </p:nvSpPr>
        <p:spPr>
          <a:xfrm>
            <a:off x="2862072" y="3712464"/>
            <a:ext cx="1316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4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44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continuously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20840" y="1828800"/>
            <a:ext cx="4937760" cy="1874520"/>
          </a:xfrm>
          <a:prstGeom prst="roundRect">
            <a:avLst>
              <a:gd name="adj" fmla="val 3902"/>
            </a:avLst>
          </a:prstGeom>
          <a:solidFill>
            <a:srgbClr val="FAFBFC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95160" y="199339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pass conditions — every time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040880" y="2450592"/>
            <a:ext cx="219456" cy="219456"/>
          </a:xfrm>
          <a:prstGeom prst="ellipse">
            <a:avLst/>
          </a:prstGeom>
          <a:solidFill>
            <a:srgbClr val="1E6E46"/>
          </a:solidFill>
          <a:ln/>
        </p:spPr>
      </p:sp>
      <p:sp>
        <p:nvSpPr>
          <p:cNvPr id="31" name="Text 29"/>
          <p:cNvSpPr/>
          <p:nvPr/>
        </p:nvSpPr>
        <p:spPr>
          <a:xfrm>
            <a:off x="7360920" y="23957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recovered correctly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7040880" y="2907792"/>
            <a:ext cx="219456" cy="219456"/>
          </a:xfrm>
          <a:prstGeom prst="ellipse">
            <a:avLst/>
          </a:prstGeom>
          <a:solidFill>
            <a:srgbClr val="1E6E46"/>
          </a:solidFill>
          <a:ln/>
        </p:spPr>
      </p:sp>
      <p:sp>
        <p:nvSpPr>
          <p:cNvPr id="33" name="Text 31"/>
          <p:cNvSpPr/>
          <p:nvPr/>
        </p:nvSpPr>
        <p:spPr>
          <a:xfrm>
            <a:off x="7360920" y="28529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was detected and alerted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995160" y="331012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fault that heals silently is still a failed test — next time it may not heal.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720840" y="3931920"/>
            <a:ext cx="4937760" cy="1783080"/>
          </a:xfrm>
          <a:prstGeom prst="roundRect">
            <a:avLst>
              <a:gd name="adj" fmla="val 4103"/>
            </a:avLst>
          </a:prstGeom>
          <a:solidFill>
            <a:srgbClr val="EEF2FC"/>
          </a:solidFill>
          <a:ln/>
        </p:spPr>
      </p:sp>
      <p:sp>
        <p:nvSpPr>
          <p:cNvPr id="36" name="Text 34"/>
          <p:cNvSpPr/>
          <p:nvPr/>
        </p:nvSpPr>
        <p:spPr>
          <a:xfrm>
            <a:off x="6995160" y="40965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4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 here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995160" y="4462272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claims made in design reviews and DR documents are commitments. Chaos engineering is how those claims become verified facts instead of assumptions.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failure domains — mapped to where they strike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Chaos Engineering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246888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7780">
            <a:solidFill>
              <a:srgbClr val="2444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627632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 / client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41248" y="1956816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customer-visible flow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44368" y="1371600"/>
            <a:ext cx="292608" cy="292608"/>
          </a:xfrm>
          <a:prstGeom prst="star5">
            <a:avLst/>
          </a:prstGeom>
          <a:solidFill>
            <a:srgbClr val="C0361D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2743200"/>
            <a:ext cx="2468880" cy="347472"/>
          </a:xfrm>
          <a:prstGeom prst="roundRect">
            <a:avLst>
              <a:gd name="adj" fmla="val 13158"/>
            </a:avLst>
          </a:prstGeom>
          <a:solidFill>
            <a:srgbClr val="FAFBFC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706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 experience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55264" y="1901952"/>
            <a:ext cx="219456" cy="256032"/>
          </a:xfrm>
          <a:prstGeom prst="rightArrow">
            <a:avLst/>
          </a:prstGeom>
          <a:solidFill>
            <a:srgbClr val="8B93A1"/>
          </a:solidFill>
          <a:ln/>
        </p:spPr>
      </p:sp>
      <p:sp>
        <p:nvSpPr>
          <p:cNvPr id="12" name="Shape 10"/>
          <p:cNvSpPr/>
          <p:nvPr/>
        </p:nvSpPr>
        <p:spPr>
          <a:xfrm>
            <a:off x="3520440" y="1508760"/>
            <a:ext cx="246888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7780">
            <a:solidFill>
              <a:srgbClr val="24449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30168" y="1627632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ingress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630168" y="1956816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load balancers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733288" y="1371600"/>
            <a:ext cx="292608" cy="292608"/>
          </a:xfrm>
          <a:prstGeom prst="star5">
            <a:avLst/>
          </a:prstGeom>
          <a:solidFill>
            <a:srgbClr val="C0361D"/>
          </a:solidFill>
          <a:ln/>
        </p:spPr>
      </p:sp>
      <p:sp>
        <p:nvSpPr>
          <p:cNvPr id="16" name="Shape 14"/>
          <p:cNvSpPr/>
          <p:nvPr/>
        </p:nvSpPr>
        <p:spPr>
          <a:xfrm>
            <a:off x="3520440" y="2743200"/>
            <a:ext cx="2468880" cy="347472"/>
          </a:xfrm>
          <a:prstGeom prst="roundRect">
            <a:avLst>
              <a:gd name="adj" fmla="val 13158"/>
            </a:avLst>
          </a:prstGeom>
          <a:solidFill>
            <a:srgbClr val="FAFBFC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27706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ingress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520440" y="3163824"/>
            <a:ext cx="2468880" cy="347472"/>
          </a:xfrm>
          <a:prstGeom prst="roundRect">
            <a:avLst>
              <a:gd name="adj" fmla="val 13158"/>
            </a:avLst>
          </a:prstGeom>
          <a:solidFill>
            <a:srgbClr val="FAFBFC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11880" y="31912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dependencies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044184" y="1901952"/>
            <a:ext cx="219456" cy="256032"/>
          </a:xfrm>
          <a:prstGeom prst="rightArrow">
            <a:avLst/>
          </a:prstGeom>
          <a:solidFill>
            <a:srgbClr val="8B93A1"/>
          </a:solidFill>
          <a:ln/>
        </p:spPr>
      </p:sp>
      <p:sp>
        <p:nvSpPr>
          <p:cNvPr id="21" name="Shape 19"/>
          <p:cNvSpPr/>
          <p:nvPr/>
        </p:nvSpPr>
        <p:spPr>
          <a:xfrm>
            <a:off x="6309360" y="1508760"/>
            <a:ext cx="246888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7780">
            <a:solidFill>
              <a:srgbClr val="24449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19088" y="1627632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(compute)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19088" y="1956816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containers, app logic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522208" y="1371600"/>
            <a:ext cx="292608" cy="292608"/>
          </a:xfrm>
          <a:prstGeom prst="star5">
            <a:avLst/>
          </a:prstGeom>
          <a:solidFill>
            <a:srgbClr val="C0361D"/>
          </a:solidFill>
          <a:ln/>
        </p:spPr>
      </p:sp>
      <p:sp>
        <p:nvSpPr>
          <p:cNvPr id="25" name="Shape 23"/>
          <p:cNvSpPr/>
          <p:nvPr/>
        </p:nvSpPr>
        <p:spPr>
          <a:xfrm>
            <a:off x="6309360" y="2743200"/>
            <a:ext cx="2468880" cy="347472"/>
          </a:xfrm>
          <a:prstGeom prst="roundRect">
            <a:avLst>
              <a:gd name="adj" fmla="val 13158"/>
            </a:avLst>
          </a:prstGeom>
          <a:solidFill>
            <a:srgbClr val="FAFBFC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27706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309360" y="3163824"/>
            <a:ext cx="2468880" cy="347472"/>
          </a:xfrm>
          <a:prstGeom prst="roundRect">
            <a:avLst>
              <a:gd name="adj" fmla="val 13158"/>
            </a:avLst>
          </a:prstGeom>
          <a:solidFill>
            <a:srgbClr val="FAFBFC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31912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resilience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309360" y="3584448"/>
            <a:ext cx="2468880" cy="347472"/>
          </a:xfrm>
          <a:prstGeom prst="roundRect">
            <a:avLst>
              <a:gd name="adj" fmla="val 13158"/>
            </a:avLst>
          </a:prstGeom>
          <a:solidFill>
            <a:srgbClr val="FAFBFC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0" y="3611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&amp; secrets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833104" y="1901952"/>
            <a:ext cx="219456" cy="256032"/>
          </a:xfrm>
          <a:prstGeom prst="rightArrow">
            <a:avLst/>
          </a:prstGeom>
          <a:solidFill>
            <a:srgbClr val="8B93A1"/>
          </a:solidFill>
          <a:ln/>
        </p:spPr>
      </p:sp>
      <p:sp>
        <p:nvSpPr>
          <p:cNvPr id="32" name="Shape 30"/>
          <p:cNvSpPr/>
          <p:nvPr/>
        </p:nvSpPr>
        <p:spPr>
          <a:xfrm>
            <a:off x="9098280" y="1508760"/>
            <a:ext cx="246888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7780">
            <a:solidFill>
              <a:srgbClr val="24449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08008" y="1627632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cache &amp; messaging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9208008" y="1956816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stores, brokers, pipelines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1311128" y="1371600"/>
            <a:ext cx="292608" cy="292608"/>
          </a:xfrm>
          <a:prstGeom prst="star5">
            <a:avLst/>
          </a:prstGeom>
          <a:solidFill>
            <a:srgbClr val="C0361D"/>
          </a:solidFill>
          <a:ln/>
        </p:spPr>
      </p:sp>
      <p:sp>
        <p:nvSpPr>
          <p:cNvPr id="36" name="Shape 34"/>
          <p:cNvSpPr/>
          <p:nvPr/>
        </p:nvSpPr>
        <p:spPr>
          <a:xfrm>
            <a:off x="9098280" y="2743200"/>
            <a:ext cx="2468880" cy="347472"/>
          </a:xfrm>
          <a:prstGeom prst="roundRect">
            <a:avLst>
              <a:gd name="adj" fmla="val 13158"/>
            </a:avLst>
          </a:prstGeom>
          <a:solidFill>
            <a:srgbClr val="FAFBFC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89720" y="27706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tier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9098280" y="3163824"/>
            <a:ext cx="2468880" cy="347472"/>
          </a:xfrm>
          <a:prstGeom prst="roundRect">
            <a:avLst>
              <a:gd name="adj" fmla="val 13158"/>
            </a:avLst>
          </a:prstGeom>
          <a:solidFill>
            <a:srgbClr val="FAFBFC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89720" y="31912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098280" y="3584448"/>
            <a:ext cx="2468880" cy="347472"/>
          </a:xfrm>
          <a:prstGeom prst="roundRect">
            <a:avLst>
              <a:gd name="adj" fmla="val 13158"/>
            </a:avLst>
          </a:prstGeom>
          <a:solidFill>
            <a:srgbClr val="FAFBFC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89720" y="3611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9098280" y="4005072"/>
            <a:ext cx="2468880" cy="347472"/>
          </a:xfrm>
          <a:prstGeom prst="roundRect">
            <a:avLst>
              <a:gd name="adj" fmla="val 13158"/>
            </a:avLst>
          </a:prstGeom>
          <a:solidFill>
            <a:srgbClr val="FAFBFC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89720" y="403250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/ batch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732520" y="1115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03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= fault injection point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31520" y="4572000"/>
            <a:ext cx="1074420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240">
            <a:solidFill>
              <a:srgbClr val="9A6A1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" y="471830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Cross-cutting infrastructure: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3840480" y="4718304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 ·  Region / DR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731520" y="5349240"/>
            <a:ext cx="1074420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240">
            <a:solidFill>
              <a:srgbClr val="C0361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549554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Cross-service behavior: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3840480" y="5495544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 / rollback  ·  compound, multi-domain failures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731520" y="614476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domains, one picture. Most real incidents are compounds that cross two or three of these at once.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— knowing the domains isn’t knowing our exposure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Chaos Engineering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234440" y="1463040"/>
            <a:ext cx="5394960" cy="3200400"/>
          </a:xfrm>
          <a:prstGeom prst="ellipse">
            <a:avLst/>
          </a:prstGeom>
          <a:solidFill>
            <a:srgbClr val="8B93A1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5532120" y="1463040"/>
            <a:ext cx="5394960" cy="3200400"/>
          </a:xfrm>
          <a:prstGeom prst="ellipse">
            <a:avLst/>
          </a:prstGeom>
          <a:solidFill>
            <a:srgbClr val="24449C">
              <a:alpha val="4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600200" y="2514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universal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domains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00200" y="33375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0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real exposure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0" y="3108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code, config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infrastructure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74920" y="2697480"/>
            <a:ext cx="201168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1A1D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0" y="27889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must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 test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892040"/>
            <a:ext cx="2651760" cy="960120"/>
          </a:xfrm>
          <a:prstGeom prst="roundRect">
            <a:avLst>
              <a:gd name="adj" fmla="val 5714"/>
            </a:avLst>
          </a:prstGeom>
          <a:solidFill>
            <a:srgbClr val="FAFBFC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983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is scattered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7240" y="530352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dozens of repos and configs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456432" y="4892040"/>
            <a:ext cx="2651760" cy="960120"/>
          </a:xfrm>
          <a:prstGeom prst="roundRect">
            <a:avLst>
              <a:gd name="adj" fmla="val 5714"/>
            </a:avLst>
          </a:prstGeom>
          <a:solidFill>
            <a:srgbClr val="FAFBFC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93592" y="4983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goes stale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593592" y="530352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captured once, drift starts immediately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72784" y="4892040"/>
            <a:ext cx="2651760" cy="960120"/>
          </a:xfrm>
          <a:prstGeom prst="roundRect">
            <a:avLst>
              <a:gd name="adj" fmla="val 5714"/>
            </a:avLst>
          </a:prstGeom>
          <a:solidFill>
            <a:srgbClr val="FAFBFC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9944" y="4983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plans miss the point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9944" y="530352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skip the gap that causes OUR incident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89136" y="4892040"/>
            <a:ext cx="2651760" cy="960120"/>
          </a:xfrm>
          <a:prstGeom prst="roundRect">
            <a:avLst>
              <a:gd name="adj" fmla="val 5714"/>
            </a:avLst>
          </a:prstGeom>
          <a:solidFill>
            <a:srgbClr val="FAFBFC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26296" y="4983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catalogs age out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226296" y="530352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one release after they’re written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4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framework closes the gap: it connects universal failure domains to this platform’s actual, current, evidenced exposure.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this was done before — and how it works now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Chaos Engineering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143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understand one fleet’s real resilience posture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85800" y="1463040"/>
            <a:ext cx="8595360" cy="457200"/>
          </a:xfrm>
          <a:prstGeom prst="roundRect">
            <a:avLst>
              <a:gd name="adj" fmla="val 12000"/>
            </a:avLst>
          </a:prstGeom>
          <a:solidFill>
            <a:srgbClr val="E3E5E9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5361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— weeks per service: workshops, interviews, reading docs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1737360" cy="457200"/>
          </a:xfrm>
          <a:prstGeom prst="roundRect">
            <a:avLst>
              <a:gd name="adj" fmla="val 12000"/>
            </a:avLst>
          </a:prstGeom>
          <a:solidFill>
            <a:srgbClr val="24449C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20848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4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— hours per fleet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0" y="26974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092440" y="26974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4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11109960" cy="694944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01752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Discovering the architecture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297680" y="3017520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Workshops and interviews, stale on arrival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92440" y="301752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read every app and infra repo, pinned to exact commits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85800" y="373075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scenario list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297680" y="3730752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Experts brainstorm from experience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92440" y="3730752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from evidence — each scenario exists because a finding demands it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398264"/>
            <a:ext cx="11109960" cy="694944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4443984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Prioritizing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297680" y="4443984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 and intuition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92440" y="4443984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Computed: likelihood × severity, weighted by criticality and data class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85800" y="5157216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Keeping it current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297680" y="5157216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manual refresh, usually skipped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92440" y="5157216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pipeline on any change; the catalog regenerates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5824728"/>
            <a:ext cx="11109960" cy="694944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5870448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Trusting the result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297680" y="5870448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author knows the system”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092440" y="5870448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 cites file + line; verifiable without trusting the tool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AI fits — and where it doesn’t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Chaos Engineering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394960" cy="3657600"/>
          </a:xfrm>
          <a:prstGeom prst="roundRect">
            <a:avLst>
              <a:gd name="adj" fmla="val 2000"/>
            </a:avLst>
          </a:prstGeom>
          <a:solidFill>
            <a:srgbClr val="EEF2FC"/>
          </a:solidFill>
          <a:ln w="15875">
            <a:solidFill>
              <a:srgbClr val="24449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508760"/>
            <a:ext cx="457200" cy="457200"/>
          </a:xfrm>
          <a:prstGeom prst="ellipse">
            <a:avLst/>
          </a:prstGeom>
          <a:solidFill>
            <a:srgbClr val="24449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59105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1554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4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reading and drafting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21488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every app and infra repo at fleet scale — work no team has capacity to do by hand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resilience facts with file + line evidence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Correlates journey graphs, code and deployed infra — and spots contradictions between them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Re-drafts the whole package on every run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280160"/>
            <a:ext cx="5394960" cy="3657600"/>
          </a:xfrm>
          <a:prstGeom prst="roundRect">
            <a:avLst>
              <a:gd name="adj" fmla="val 2000"/>
            </a:avLst>
          </a:prstGeom>
          <a:solidFill>
            <a:srgbClr val="FAFBFC"/>
          </a:solidFill>
          <a:ln w="1587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0" y="1508760"/>
            <a:ext cx="457200" cy="457200"/>
          </a:xfrm>
          <a:prstGeom prst="ellipse">
            <a:avLst/>
          </a:prstGeom>
          <a:solidFill>
            <a:srgbClr val="1A1D24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159105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78040" y="1554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keep the judgment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29400" y="21488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flagged conflicts between evidence sources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compliance and business-risk calls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scoring against real incident history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blast radius and run the experiments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5166360"/>
            <a:ext cx="111099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1E6E4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5440680"/>
            <a:ext cx="384048" cy="384048"/>
          </a:xfrm>
          <a:prstGeom prst="ellipse">
            <a:avLst/>
          </a:prstGeom>
          <a:solidFill>
            <a:srgbClr val="1E6E46"/>
          </a:solidFill>
          <a:ln/>
        </p:spPr>
      </p:sp>
      <p:sp>
        <p:nvSpPr>
          <p:cNvPr id="17" name="Text 15"/>
          <p:cNvSpPr/>
          <p:nvPr/>
        </p:nvSpPr>
        <p:spPr>
          <a:xfrm>
            <a:off x="1417320" y="5394960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guardrail that makes AI trustworthy here:  </a:t>
            </a:r>
            <a:pPr indent="0" marL="0">
              <a:buNone/>
            </a:pPr>
            <a:r>
              <a:rPr lang="en-US" sz="13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is forbidden to assume. No evidence → no claim → a visible gap instead. AI provides scale; the evidence contract provides trust.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bespoke — generic catalogs test generic risks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Chaos Engineering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00200" y="1645920"/>
            <a:ext cx="2834640" cy="2834640"/>
          </a:xfrm>
          <a:prstGeom prst="ellipse">
            <a:avLst/>
          </a:prstGeom>
          <a:solidFill>
            <a:srgbClr val="EDEFF2"/>
          </a:solidFill>
          <a:ln/>
        </p:spPr>
      </p:sp>
      <p:sp>
        <p:nvSpPr>
          <p:cNvPr id="6" name="Shape 4"/>
          <p:cNvSpPr/>
          <p:nvPr/>
        </p:nvSpPr>
        <p:spPr>
          <a:xfrm>
            <a:off x="2057400" y="2103120"/>
            <a:ext cx="1920240" cy="1920240"/>
          </a:xfrm>
          <a:prstGeom prst="ellipse">
            <a:avLst/>
          </a:prstGeom>
          <a:solidFill>
            <a:srgbClr val="E3E5E9"/>
          </a:solidFill>
          <a:ln/>
        </p:spPr>
      </p:sp>
      <p:sp>
        <p:nvSpPr>
          <p:cNvPr id="7" name="Shape 5"/>
          <p:cNvSpPr/>
          <p:nvPr/>
        </p:nvSpPr>
        <p:spPr>
          <a:xfrm>
            <a:off x="2487168" y="2532888"/>
            <a:ext cx="1060704" cy="1060704"/>
          </a:xfrm>
          <a:prstGeom prst="ellipse">
            <a:avLst/>
          </a:prstGeom>
          <a:solidFill>
            <a:srgbClr val="D6D9DE"/>
          </a:solidFill>
          <a:ln/>
        </p:spPr>
      </p:sp>
      <p:sp>
        <p:nvSpPr>
          <p:cNvPr id="8" name="Shape 6"/>
          <p:cNvSpPr/>
          <p:nvPr/>
        </p:nvSpPr>
        <p:spPr>
          <a:xfrm>
            <a:off x="3749040" y="2240280"/>
            <a:ext cx="274320" cy="274320"/>
          </a:xfrm>
          <a:prstGeom prst="ellipse">
            <a:avLst/>
          </a:prstGeom>
          <a:solidFill>
            <a:srgbClr val="C0361D"/>
          </a:solidFill>
          <a:ln/>
        </p:spPr>
      </p:sp>
      <p:sp>
        <p:nvSpPr>
          <p:cNvPr id="9" name="Shape 7"/>
          <p:cNvSpPr/>
          <p:nvPr/>
        </p:nvSpPr>
        <p:spPr>
          <a:xfrm>
            <a:off x="7726680" y="1645920"/>
            <a:ext cx="2834640" cy="2834640"/>
          </a:xfrm>
          <a:prstGeom prst="ellipse">
            <a:avLst/>
          </a:prstGeom>
          <a:solidFill>
            <a:srgbClr val="DCE4F6"/>
          </a:solidFill>
          <a:ln/>
        </p:spPr>
      </p:sp>
      <p:sp>
        <p:nvSpPr>
          <p:cNvPr id="10" name="Shape 8"/>
          <p:cNvSpPr/>
          <p:nvPr/>
        </p:nvSpPr>
        <p:spPr>
          <a:xfrm>
            <a:off x="8183880" y="2103120"/>
            <a:ext cx="1920240" cy="1920240"/>
          </a:xfrm>
          <a:prstGeom prst="ellipse">
            <a:avLst/>
          </a:prstGeom>
          <a:solidFill>
            <a:srgbClr val="C3D2EF"/>
          </a:solidFill>
          <a:ln/>
        </p:spPr>
      </p:sp>
      <p:sp>
        <p:nvSpPr>
          <p:cNvPr id="11" name="Shape 9"/>
          <p:cNvSpPr/>
          <p:nvPr/>
        </p:nvSpPr>
        <p:spPr>
          <a:xfrm>
            <a:off x="8613648" y="2532888"/>
            <a:ext cx="1060704" cy="1060704"/>
          </a:xfrm>
          <a:prstGeom prst="ellipse">
            <a:avLst/>
          </a:prstGeom>
          <a:solidFill>
            <a:srgbClr val="A9C0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006840" y="2926080"/>
            <a:ext cx="274320" cy="274320"/>
          </a:xfrm>
          <a:prstGeom prst="ellipse">
            <a:avLst/>
          </a:prstGeom>
          <a:solidFill>
            <a:srgbClr val="C0361D"/>
          </a:solidFill>
          <a:ln/>
        </p:spPr>
      </p:sp>
      <p:sp>
        <p:nvSpPr>
          <p:cNvPr id="13" name="Text 11"/>
          <p:cNvSpPr/>
          <p:nvPr/>
        </p:nvSpPr>
        <p:spPr>
          <a:xfrm>
            <a:off x="164592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catalog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50292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Aimed at the failure modes every system shares — it lands somewhere on the board, but not on this platform’s real weak spot.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Evidence-based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60920" y="50292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Aimed by findings: a service with no circuit breaker; a client with 5 retries and no timeout; DNS failover that is manual, not automatic.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983480" y="2606040"/>
            <a:ext cx="224028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272491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effort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aim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4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is computed from journey criticality, data class and per-hop grade — so the highest-scoring experiments are the ones this platform actually needs.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pipeline — evidence in, experiments out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Chaos Engineering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2487168" cy="25146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4449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09344" y="2176272"/>
            <a:ext cx="384048" cy="310896"/>
          </a:xfrm>
          <a:prstGeom prst="rect">
            <a:avLst/>
          </a:prstGeom>
          <a:solidFill>
            <a:srgbClr val="C9D6EF"/>
          </a:solidFill>
          <a:ln/>
        </p:spPr>
      </p:sp>
      <p:sp>
        <p:nvSpPr>
          <p:cNvPr id="7" name="Shape 5"/>
          <p:cNvSpPr/>
          <p:nvPr/>
        </p:nvSpPr>
        <p:spPr>
          <a:xfrm>
            <a:off x="1728216" y="2295144"/>
            <a:ext cx="384048" cy="310896"/>
          </a:xfrm>
          <a:prstGeom prst="rect">
            <a:avLst/>
          </a:prstGeom>
          <a:solidFill>
            <a:srgbClr val="C9D6EF"/>
          </a:solidFill>
          <a:ln/>
        </p:spPr>
      </p:sp>
      <p:sp>
        <p:nvSpPr>
          <p:cNvPr id="8" name="Shape 6"/>
          <p:cNvSpPr/>
          <p:nvPr/>
        </p:nvSpPr>
        <p:spPr>
          <a:xfrm>
            <a:off x="1847088" y="2414016"/>
            <a:ext cx="384048" cy="31089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761488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4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82112"/>
            <a:ext cx="21214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 graphs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scan cards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Infra-by-environment files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182112" y="3063240"/>
            <a:ext cx="274320" cy="274320"/>
          </a:xfrm>
          <a:prstGeom prst="rightArrow">
            <a:avLst/>
          </a:prstGeom>
          <a:solidFill>
            <a:srgbClr val="8B93A1"/>
          </a:solidFill>
          <a:ln/>
        </p:spPr>
      </p:sp>
      <p:sp>
        <p:nvSpPr>
          <p:cNvPr id="12" name="Shape 10"/>
          <p:cNvSpPr/>
          <p:nvPr/>
        </p:nvSpPr>
        <p:spPr>
          <a:xfrm>
            <a:off x="3511296" y="1920240"/>
            <a:ext cx="2487168" cy="25146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4449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0560" y="2176272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4449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2700000">
            <a:off x="4864608" y="2560320"/>
            <a:ext cx="237744" cy="91440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15" name="Text 13"/>
          <p:cNvSpPr/>
          <p:nvPr/>
        </p:nvSpPr>
        <p:spPr>
          <a:xfrm>
            <a:off x="3694176" y="2761488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4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94176" y="3182112"/>
            <a:ext cx="21214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read every app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infra repo; every fact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file + line evidence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53328" y="3063240"/>
            <a:ext cx="274320" cy="274320"/>
          </a:xfrm>
          <a:prstGeom prst="rightArrow">
            <a:avLst/>
          </a:prstGeom>
          <a:solidFill>
            <a:srgbClr val="8B93A1"/>
          </a:solidFill>
          <a:ln/>
        </p:spPr>
      </p:sp>
      <p:sp>
        <p:nvSpPr>
          <p:cNvPr id="18" name="Shape 16"/>
          <p:cNvSpPr/>
          <p:nvPr/>
        </p:nvSpPr>
        <p:spPr>
          <a:xfrm>
            <a:off x="6382512" y="1920240"/>
            <a:ext cx="2487168" cy="25146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4449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51776" y="2176272"/>
            <a:ext cx="219456" cy="219456"/>
          </a:xfrm>
          <a:prstGeom prst="rect">
            <a:avLst/>
          </a:prstGeom>
          <a:solidFill>
            <a:srgbClr val="C9D6EF"/>
          </a:solidFill>
          <a:ln/>
        </p:spPr>
      </p:sp>
      <p:sp>
        <p:nvSpPr>
          <p:cNvPr id="20" name="Shape 18"/>
          <p:cNvSpPr/>
          <p:nvPr/>
        </p:nvSpPr>
        <p:spPr>
          <a:xfrm>
            <a:off x="7607808" y="2176272"/>
            <a:ext cx="219456" cy="219456"/>
          </a:xfrm>
          <a:prstGeom prst="rect">
            <a:avLst/>
          </a:prstGeom>
          <a:solidFill>
            <a:srgbClr val="C9D6EF"/>
          </a:solidFill>
          <a:ln/>
        </p:spPr>
      </p:sp>
      <p:sp>
        <p:nvSpPr>
          <p:cNvPr id="21" name="Shape 19"/>
          <p:cNvSpPr/>
          <p:nvPr/>
        </p:nvSpPr>
        <p:spPr>
          <a:xfrm>
            <a:off x="7351776" y="2432304"/>
            <a:ext cx="219456" cy="219456"/>
          </a:xfrm>
          <a:prstGeom prst="rect">
            <a:avLst/>
          </a:prstGeom>
          <a:solidFill>
            <a:srgbClr val="C9D6EF"/>
          </a:solidFill>
          <a:ln/>
        </p:spPr>
      </p:sp>
      <p:sp>
        <p:nvSpPr>
          <p:cNvPr id="22" name="Shape 20"/>
          <p:cNvSpPr/>
          <p:nvPr/>
        </p:nvSpPr>
        <p:spPr>
          <a:xfrm>
            <a:off x="7607808" y="2432304"/>
            <a:ext cx="219456" cy="219456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23" name="Text 21"/>
          <p:cNvSpPr/>
          <p:nvPr/>
        </p:nvSpPr>
        <p:spPr>
          <a:xfrm>
            <a:off x="6565392" y="2761488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4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65392" y="3182112"/>
            <a:ext cx="21214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expand against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evidence; scoring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computed, not guessed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924544" y="3063240"/>
            <a:ext cx="274320" cy="274320"/>
          </a:xfrm>
          <a:prstGeom prst="rightArrow">
            <a:avLst/>
          </a:prstGeom>
          <a:solidFill>
            <a:srgbClr val="8B93A1"/>
          </a:solidFill>
          <a:ln/>
        </p:spPr>
      </p:sp>
      <p:sp>
        <p:nvSpPr>
          <p:cNvPr id="26" name="Shape 24"/>
          <p:cNvSpPr/>
          <p:nvPr/>
        </p:nvSpPr>
        <p:spPr>
          <a:xfrm>
            <a:off x="9253728" y="1920240"/>
            <a:ext cx="2487168" cy="25146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1E6E4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222992" y="2176272"/>
            <a:ext cx="502920" cy="457200"/>
          </a:xfrm>
          <a:prstGeom prst="cube">
            <a:avLst/>
          </a:prstGeom>
          <a:solidFill>
            <a:srgbClr val="1E6E46"/>
          </a:solidFill>
          <a:ln/>
        </p:spPr>
      </p:sp>
      <p:sp>
        <p:nvSpPr>
          <p:cNvPr id="28" name="Text 26"/>
          <p:cNvSpPr/>
          <p:nvPr/>
        </p:nvSpPr>
        <p:spPr>
          <a:xfrm>
            <a:off x="9436608" y="2761488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6E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436608" y="3182112"/>
            <a:ext cx="21214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workbook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interactive dashboard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4892040"/>
            <a:ext cx="10972800" cy="868680"/>
          </a:xfrm>
          <a:prstGeom prst="roundRect">
            <a:avLst>
              <a:gd name="adj" fmla="val 8421"/>
            </a:avLst>
          </a:prstGeom>
          <a:solidFill>
            <a:srgbClr val="EEF2FC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50749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on any change — a new service, a new journey, a config change, or a quarterly drift check. The pipeline is the deliverable; each package is just its latest output.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accuracy contract — nothing is assumed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Chaos Engineering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AFBFC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463040"/>
            <a:ext cx="329184" cy="329184"/>
          </a:xfrm>
          <a:prstGeom prst="ellipse">
            <a:avLst/>
          </a:prstGeom>
          <a:solidFill>
            <a:srgbClr val="24449C"/>
          </a:solidFill>
          <a:ln/>
        </p:spPr>
      </p:sp>
      <p:sp>
        <p:nvSpPr>
          <p:cNvPr id="7" name="Text 5"/>
          <p:cNvSpPr/>
          <p:nvPr/>
        </p:nvSpPr>
        <p:spPr>
          <a:xfrm>
            <a:off x="1298448" y="139903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evidence → no scenario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98448" y="1783080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inputs don’t prove a component or behavior exists, nothing is invented.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23444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AFBFC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19672" y="1463040"/>
            <a:ext cx="329184" cy="329184"/>
          </a:xfrm>
          <a:prstGeom prst="ellipse">
            <a:avLst/>
          </a:prstGeom>
          <a:solidFill>
            <a:srgbClr val="1E6E46"/>
          </a:solidFill>
          <a:ln/>
        </p:spPr>
      </p:sp>
      <p:sp>
        <p:nvSpPr>
          <p:cNvPr id="11" name="Text 9"/>
          <p:cNvSpPr/>
          <p:nvPr/>
        </p:nvSpPr>
        <p:spPr>
          <a:xfrm>
            <a:off x="7013448" y="139903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fact cites its source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13448" y="1783080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scenario’s “why” quotes the file, line and value that generated it.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AFBFC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2971800"/>
            <a:ext cx="329184" cy="329184"/>
          </a:xfrm>
          <a:prstGeom prst="ellipse">
            <a:avLst/>
          </a:prstGeom>
          <a:solidFill>
            <a:srgbClr val="C0361D"/>
          </a:solidFill>
          <a:ln/>
        </p:spPr>
      </p:sp>
      <p:sp>
        <p:nvSpPr>
          <p:cNvPr id="15" name="Text 13"/>
          <p:cNvSpPr/>
          <p:nvPr/>
        </p:nvSpPr>
        <p:spPr>
          <a:xfrm>
            <a:off x="1298448" y="290779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Conflicts are surfaced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98448" y="3291840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sources disagree, it’s flagged for a human — never silently decided.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63640" y="274320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AFBFC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19672" y="2971800"/>
            <a:ext cx="329184" cy="329184"/>
          </a:xfrm>
          <a:prstGeom prst="ellipse">
            <a:avLst/>
          </a:prstGeom>
          <a:solidFill>
            <a:srgbClr val="9A6A14"/>
          </a:solidFill>
          <a:ln/>
        </p:spPr>
      </p:sp>
      <p:sp>
        <p:nvSpPr>
          <p:cNvPr id="19" name="Text 17"/>
          <p:cNvSpPr/>
          <p:nvPr/>
        </p:nvSpPr>
        <p:spPr>
          <a:xfrm>
            <a:off x="7013448" y="290779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deltas are findings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13448" y="3291840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test environment differs from production, scenarios carry a validity caveat.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4434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every candidate fact is handled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4846320"/>
            <a:ext cx="21031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8B93A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5029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fact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743200" y="5047488"/>
            <a:ext cx="274320" cy="274320"/>
          </a:xfrm>
          <a:prstGeom prst="rightArrow">
            <a:avLst/>
          </a:prstGeom>
          <a:solidFill>
            <a:srgbClr val="8B93A1"/>
          </a:solidFill>
          <a:ln/>
        </p:spPr>
      </p:sp>
      <p:sp>
        <p:nvSpPr>
          <p:cNvPr id="25" name="Shape 23"/>
          <p:cNvSpPr/>
          <p:nvPr/>
        </p:nvSpPr>
        <p:spPr>
          <a:xfrm>
            <a:off x="3154680" y="4663440"/>
            <a:ext cx="1920240" cy="1051560"/>
          </a:xfrm>
          <a:prstGeom prst="diamond">
            <a:avLst/>
          </a:prstGeom>
          <a:solidFill>
            <a:srgbClr val="FFFFFF"/>
          </a:solidFill>
          <a:ln w="17780">
            <a:solidFill>
              <a:srgbClr val="24449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46120" y="48646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4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44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repo?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166360" y="4526280"/>
            <a:ext cx="274320" cy="274320"/>
          </a:xfrm>
          <a:prstGeom prst="rightArrow">
            <a:avLst/>
          </a:prstGeom>
          <a:solidFill>
            <a:srgbClr val="1E6E46"/>
          </a:solidFill>
          <a:ln/>
        </p:spPr>
      </p:sp>
      <p:sp>
        <p:nvSpPr>
          <p:cNvPr id="28" name="Text 26"/>
          <p:cNvSpPr/>
          <p:nvPr/>
        </p:nvSpPr>
        <p:spPr>
          <a:xfrm>
            <a:off x="512064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6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577840" y="4279392"/>
            <a:ext cx="2743200" cy="685800"/>
          </a:xfrm>
          <a:prstGeom prst="roundRect">
            <a:avLst>
              <a:gd name="adj" fmla="val 8000"/>
            </a:avLst>
          </a:prstGeom>
          <a:solidFill>
            <a:srgbClr val="E8F1EA"/>
          </a:solidFill>
          <a:ln w="15240">
            <a:solidFill>
              <a:srgbClr val="1E6E4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23560" y="446227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6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scenario, with citation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166360" y="5532120"/>
            <a:ext cx="274320" cy="274320"/>
          </a:xfrm>
          <a:prstGeom prst="rightArrow">
            <a:avLst/>
          </a:prstGeom>
          <a:solidFill>
            <a:srgbClr val="9A6A14"/>
          </a:solidFill>
          <a:ln/>
        </p:spPr>
      </p:sp>
      <p:sp>
        <p:nvSpPr>
          <p:cNvPr id="32" name="Text 30"/>
          <p:cNvSpPr/>
          <p:nvPr/>
        </p:nvSpPr>
        <p:spPr>
          <a:xfrm>
            <a:off x="5120640" y="5806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6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577840" y="5321808"/>
            <a:ext cx="2743200" cy="685800"/>
          </a:xfrm>
          <a:prstGeom prst="roundRect">
            <a:avLst>
              <a:gd name="adj" fmla="val 8000"/>
            </a:avLst>
          </a:prstGeom>
          <a:solidFill>
            <a:srgbClr val="FBF1E2"/>
          </a:solidFill>
          <a:ln w="15240">
            <a:solidFill>
              <a:srgbClr val="9A6A1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23560" y="55046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6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coverage gap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641080" y="49560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 plausible-looking guess.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scenarios are organized and scored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Chaos Engineering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5669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layers per service and journey: </a:t>
            </a:r>
            <a:pPr indent="0" marL="0">
              <a:spcAft>
                <a:spcPts val="500"/>
              </a:spcAft>
              <a:buNone/>
            </a:pPr>
            <a:r>
              <a:rPr lang="en-US" sz="13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Application, Upstream, Downstream, Saga/rollback, Governance.</a:t>
            </a:r>
            <a:endParaRPr lang="en-US" sz="1350" dirty="0"/>
          </a:p>
          <a:p>
            <a:pPr indent="0" marL="0">
              <a:spcAft>
                <a:spcPts val="500"/>
              </a:spcAft>
              <a:buNone/>
            </a:pPr>
            <a:endParaRPr lang="en-US" sz="13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computed: </a:t>
            </a:r>
            <a:pPr indent="0" marL="0">
              <a:spcAft>
                <a:spcPts val="500"/>
              </a:spcAft>
              <a:buNone/>
            </a:pPr>
            <a:r>
              <a:rPr lang="en-US" sz="13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 × Severity, weighted by journey criticality (P0–P3) and data class (money-movement &gt; state-mutating &gt; read-only).</a:t>
            </a:r>
            <a:endParaRPr lang="en-US" sz="1350" dirty="0"/>
          </a:p>
          <a:p>
            <a:pPr indent="0" marL="0">
              <a:spcAft>
                <a:spcPts val="500"/>
              </a:spcAft>
              <a:buNone/>
            </a:pPr>
            <a:endParaRPr lang="en-US" sz="13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injection, many assertions: </a:t>
            </a:r>
            <a:pPr indent="0" marL="0">
              <a:spcAft>
                <a:spcPts val="500"/>
              </a:spcAft>
              <a:buNone/>
            </a:pPr>
            <a:r>
              <a:rPr lang="en-US" sz="13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fault is defined once per service; every journey through it gets its own pass condition.</a:t>
            </a:r>
            <a:endParaRPr lang="en-US" sz="1350" dirty="0"/>
          </a:p>
          <a:p>
            <a:pPr indent="0" marL="0">
              <a:spcAft>
                <a:spcPts val="500"/>
              </a:spcAft>
              <a:buNone/>
            </a:pPr>
            <a:endParaRPr lang="en-US" sz="13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defects outrank hypotheses: </a:t>
            </a:r>
            <a:pPr indent="0" marL="0">
              <a:spcAft>
                <a:spcPts val="500"/>
              </a:spcAft>
              <a:buNone/>
            </a:pPr>
            <a:r>
              <a:rPr lang="en-US" sz="135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code already proves a bug, it is filed as a defect; the scenario becomes its regression guard.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4800600"/>
            <a:ext cx="1783080" cy="1051560"/>
          </a:xfrm>
          <a:prstGeom prst="roundRect">
            <a:avLst>
              <a:gd name="adj" fmla="val 6087"/>
            </a:avLst>
          </a:prstGeom>
          <a:solidFill>
            <a:srgbClr val="EEF2FC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91947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44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54406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68880" y="4800600"/>
            <a:ext cx="1783080" cy="1051560"/>
          </a:xfrm>
          <a:prstGeom prst="roundRect">
            <a:avLst>
              <a:gd name="adj" fmla="val 6087"/>
            </a:avLst>
          </a:prstGeom>
          <a:solidFill>
            <a:srgbClr val="EEF2FC"/>
          </a:solidFill>
          <a:ln/>
        </p:spPr>
      </p:sp>
      <p:sp>
        <p:nvSpPr>
          <p:cNvPr id="10" name="Text 8"/>
          <p:cNvSpPr/>
          <p:nvPr/>
        </p:nvSpPr>
        <p:spPr>
          <a:xfrm>
            <a:off x="2468880" y="491947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44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468880" y="54406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89120" y="4800600"/>
            <a:ext cx="1783080" cy="1051560"/>
          </a:xfrm>
          <a:prstGeom prst="roundRect">
            <a:avLst>
              <a:gd name="adj" fmla="val 6087"/>
            </a:avLst>
          </a:prstGeom>
          <a:solidFill>
            <a:srgbClr val="EEF2FC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0" y="491947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44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389120" y="54406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59436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worked example: one journey, one service scan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40880" y="1097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= Likelihood × Severity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543800" y="1508760"/>
            <a:ext cx="713232" cy="713232"/>
          </a:xfrm>
          <a:prstGeom prst="rect">
            <a:avLst/>
          </a:prstGeom>
          <a:solidFill>
            <a:srgbClr val="3F6FB5">
              <a:alpha val="65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7543800" y="1691640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302752" y="1508760"/>
            <a:ext cx="713232" cy="713232"/>
          </a:xfrm>
          <a:prstGeom prst="rect">
            <a:avLst/>
          </a:prstGeom>
          <a:solidFill>
            <a:srgbClr val="9A6A14">
              <a:alpha val="8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8302752" y="1691640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61704" y="1508760"/>
            <a:ext cx="713232" cy="713232"/>
          </a:xfrm>
          <a:prstGeom prst="rect">
            <a:avLst/>
          </a:prstGeom>
          <a:solidFill>
            <a:srgbClr val="9A6A14">
              <a:alpha val="85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9061704" y="1691640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820656" y="1508760"/>
            <a:ext cx="713232" cy="713232"/>
          </a:xfrm>
          <a:prstGeom prst="rect">
            <a:avLst/>
          </a:prstGeom>
          <a:solidFill>
            <a:srgbClr val="C0361D"/>
          </a:solidFill>
          <a:ln/>
        </p:spPr>
      </p:sp>
      <p:sp>
        <p:nvSpPr>
          <p:cNvPr id="24" name="Text 22"/>
          <p:cNvSpPr/>
          <p:nvPr/>
        </p:nvSpPr>
        <p:spPr>
          <a:xfrm>
            <a:off x="9820656" y="1691640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579608" y="1508760"/>
            <a:ext cx="713232" cy="713232"/>
          </a:xfrm>
          <a:prstGeom prst="rect">
            <a:avLst/>
          </a:prstGeom>
          <a:solidFill>
            <a:srgbClr val="C0361D"/>
          </a:solidFill>
          <a:ln/>
        </p:spPr>
      </p:sp>
      <p:sp>
        <p:nvSpPr>
          <p:cNvPr id="26" name="Text 24"/>
          <p:cNvSpPr/>
          <p:nvPr/>
        </p:nvSpPr>
        <p:spPr>
          <a:xfrm>
            <a:off x="10579608" y="1691640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59752" y="1691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543800" y="2267712"/>
            <a:ext cx="713232" cy="713232"/>
          </a:xfrm>
          <a:prstGeom prst="rect">
            <a:avLst/>
          </a:prstGeom>
          <a:solidFill>
            <a:srgbClr val="3F6FB5">
              <a:alpha val="6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7543800" y="2450592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302752" y="2267712"/>
            <a:ext cx="713232" cy="713232"/>
          </a:xfrm>
          <a:prstGeom prst="rect">
            <a:avLst/>
          </a:prstGeom>
          <a:solidFill>
            <a:srgbClr val="3F6FB5">
              <a:alpha val="65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8302752" y="2450592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061704" y="2267712"/>
            <a:ext cx="713232" cy="713232"/>
          </a:xfrm>
          <a:prstGeom prst="rect">
            <a:avLst/>
          </a:prstGeom>
          <a:solidFill>
            <a:srgbClr val="9A6A14">
              <a:alpha val="85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9061704" y="2450592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820656" y="2267712"/>
            <a:ext cx="713232" cy="713232"/>
          </a:xfrm>
          <a:prstGeom prst="rect">
            <a:avLst/>
          </a:prstGeom>
          <a:solidFill>
            <a:srgbClr val="C0361D"/>
          </a:solidFill>
          <a:ln/>
        </p:spPr>
      </p:sp>
      <p:sp>
        <p:nvSpPr>
          <p:cNvPr id="35" name="Text 33"/>
          <p:cNvSpPr/>
          <p:nvPr/>
        </p:nvSpPr>
        <p:spPr>
          <a:xfrm>
            <a:off x="9820656" y="2450592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0579608" y="2267712"/>
            <a:ext cx="713232" cy="713232"/>
          </a:xfrm>
          <a:prstGeom prst="rect">
            <a:avLst/>
          </a:prstGeom>
          <a:solidFill>
            <a:srgbClr val="C0361D"/>
          </a:solidFill>
          <a:ln/>
        </p:spPr>
      </p:sp>
      <p:sp>
        <p:nvSpPr>
          <p:cNvPr id="37" name="Text 35"/>
          <p:cNvSpPr/>
          <p:nvPr/>
        </p:nvSpPr>
        <p:spPr>
          <a:xfrm>
            <a:off x="10579608" y="2450592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159752" y="24505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543800" y="3026664"/>
            <a:ext cx="713232" cy="713232"/>
          </a:xfrm>
          <a:prstGeom prst="rect">
            <a:avLst/>
          </a:prstGeom>
          <a:solidFill>
            <a:srgbClr val="8B93A1">
              <a:alpha val="65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7543800" y="3209544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302752" y="3026664"/>
            <a:ext cx="713232" cy="713232"/>
          </a:xfrm>
          <a:prstGeom prst="rect">
            <a:avLst/>
          </a:prstGeom>
          <a:solidFill>
            <a:srgbClr val="3F6FB5">
              <a:alpha val="65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8302752" y="3209544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061704" y="3026664"/>
            <a:ext cx="713232" cy="713232"/>
          </a:xfrm>
          <a:prstGeom prst="rect">
            <a:avLst/>
          </a:prstGeom>
          <a:solidFill>
            <a:srgbClr val="9A6A14">
              <a:alpha val="85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9061704" y="3209544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820656" y="3026664"/>
            <a:ext cx="713232" cy="713232"/>
          </a:xfrm>
          <a:prstGeom prst="rect">
            <a:avLst/>
          </a:prstGeom>
          <a:solidFill>
            <a:srgbClr val="9A6A14">
              <a:alpha val="85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9820656" y="3209544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0579608" y="3026664"/>
            <a:ext cx="713232" cy="713232"/>
          </a:xfrm>
          <a:prstGeom prst="rect">
            <a:avLst/>
          </a:prstGeom>
          <a:solidFill>
            <a:srgbClr val="9A6A14">
              <a:alpha val="85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10579608" y="3209544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7159752" y="320954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543800" y="3785616"/>
            <a:ext cx="713232" cy="713232"/>
          </a:xfrm>
          <a:prstGeom prst="rect">
            <a:avLst/>
          </a:prstGeom>
          <a:solidFill>
            <a:srgbClr val="8B93A1">
              <a:alpha val="6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7543800" y="3968496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302752" y="3785616"/>
            <a:ext cx="713232" cy="713232"/>
          </a:xfrm>
          <a:prstGeom prst="rect">
            <a:avLst/>
          </a:prstGeom>
          <a:solidFill>
            <a:srgbClr val="3F6FB5">
              <a:alpha val="65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8302752" y="3968496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9061704" y="3785616"/>
            <a:ext cx="713232" cy="713232"/>
          </a:xfrm>
          <a:prstGeom prst="rect">
            <a:avLst/>
          </a:prstGeom>
          <a:solidFill>
            <a:srgbClr val="3F6FB5">
              <a:alpha val="65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9061704" y="3968496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9820656" y="3785616"/>
            <a:ext cx="713232" cy="713232"/>
          </a:xfrm>
          <a:prstGeom prst="rect">
            <a:avLst/>
          </a:prstGeom>
          <a:solidFill>
            <a:srgbClr val="3F6FB5">
              <a:alpha val="65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9820656" y="3968496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10579608" y="3785616"/>
            <a:ext cx="713232" cy="713232"/>
          </a:xfrm>
          <a:prstGeom prst="rect">
            <a:avLst/>
          </a:prstGeom>
          <a:solidFill>
            <a:srgbClr val="9A6A14">
              <a:alpha val="85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10579608" y="3968496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7159752" y="39684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7543800" y="4544568"/>
            <a:ext cx="713232" cy="713232"/>
          </a:xfrm>
          <a:prstGeom prst="rect">
            <a:avLst/>
          </a:prstGeom>
          <a:solidFill>
            <a:srgbClr val="8B93A1">
              <a:alpha val="65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7543800" y="4727448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302752" y="4544568"/>
            <a:ext cx="713232" cy="713232"/>
          </a:xfrm>
          <a:prstGeom prst="rect">
            <a:avLst/>
          </a:prstGeom>
          <a:solidFill>
            <a:srgbClr val="8B93A1">
              <a:alpha val="65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8302752" y="4727448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9061704" y="4544568"/>
            <a:ext cx="713232" cy="713232"/>
          </a:xfrm>
          <a:prstGeom prst="rect">
            <a:avLst/>
          </a:prstGeom>
          <a:solidFill>
            <a:srgbClr val="8B93A1">
              <a:alpha val="65000"/>
            </a:srgbClr>
          </a:solidFill>
          <a:ln/>
        </p:spPr>
      </p:sp>
      <p:sp>
        <p:nvSpPr>
          <p:cNvPr id="66" name="Text 64"/>
          <p:cNvSpPr/>
          <p:nvPr/>
        </p:nvSpPr>
        <p:spPr>
          <a:xfrm>
            <a:off x="9061704" y="4727448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9820656" y="4544568"/>
            <a:ext cx="713232" cy="713232"/>
          </a:xfrm>
          <a:prstGeom prst="rect">
            <a:avLst/>
          </a:prstGeom>
          <a:solidFill>
            <a:srgbClr val="3F6FB5">
              <a:alpha val="65000"/>
            </a:srgbClr>
          </a:solidFill>
          <a:ln/>
        </p:spPr>
      </p:sp>
      <p:sp>
        <p:nvSpPr>
          <p:cNvPr id="68" name="Text 66"/>
          <p:cNvSpPr/>
          <p:nvPr/>
        </p:nvSpPr>
        <p:spPr>
          <a:xfrm>
            <a:off x="9820656" y="4727448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10579608" y="4544568"/>
            <a:ext cx="713232" cy="713232"/>
          </a:xfrm>
          <a:prstGeom prst="rect">
            <a:avLst/>
          </a:prstGeom>
          <a:solidFill>
            <a:srgbClr val="3F6FB5">
              <a:alpha val="65000"/>
            </a:srgbClr>
          </a:solidFill>
          <a:ln/>
        </p:spPr>
      </p:sp>
      <p:sp>
        <p:nvSpPr>
          <p:cNvPr id="70" name="Text 68"/>
          <p:cNvSpPr/>
          <p:nvPr/>
        </p:nvSpPr>
        <p:spPr>
          <a:xfrm>
            <a:off x="10579608" y="4727448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715975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7543800" y="534924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8302752" y="534924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9061704" y="534924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9820656" y="534924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10579608" y="534924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 rot="16200000">
            <a:off x="6309360" y="2971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→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7543800" y="562356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 →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7543800" y="5961888"/>
            <a:ext cx="201168" cy="201168"/>
          </a:xfrm>
          <a:prstGeom prst="rect">
            <a:avLst/>
          </a:prstGeom>
          <a:solidFill>
            <a:srgbClr val="C0361D"/>
          </a:solidFill>
          <a:ln/>
        </p:spPr>
      </p:sp>
      <p:sp>
        <p:nvSpPr>
          <p:cNvPr id="80" name="Text 78"/>
          <p:cNvSpPr/>
          <p:nvPr/>
        </p:nvSpPr>
        <p:spPr>
          <a:xfrm>
            <a:off x="7836408" y="591616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 16–25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9509760" y="5961888"/>
            <a:ext cx="201168" cy="201168"/>
          </a:xfrm>
          <a:prstGeom prst="rect">
            <a:avLst/>
          </a:prstGeom>
          <a:solidFill>
            <a:srgbClr val="9A6A14"/>
          </a:solidFill>
          <a:ln/>
        </p:spPr>
      </p:sp>
      <p:sp>
        <p:nvSpPr>
          <p:cNvPr id="82" name="Text 80"/>
          <p:cNvSpPr/>
          <p:nvPr/>
        </p:nvSpPr>
        <p:spPr>
          <a:xfrm>
            <a:off x="9802368" y="591616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 9–15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543800" y="6272784"/>
            <a:ext cx="201168" cy="201168"/>
          </a:xfrm>
          <a:prstGeom prst="rect">
            <a:avLst/>
          </a:prstGeom>
          <a:solidFill>
            <a:srgbClr val="3F6FB5"/>
          </a:solidFill>
          <a:ln/>
        </p:spPr>
      </p:sp>
      <p:sp>
        <p:nvSpPr>
          <p:cNvPr id="84" name="Text 82"/>
          <p:cNvSpPr/>
          <p:nvPr/>
        </p:nvSpPr>
        <p:spPr>
          <a:xfrm>
            <a:off x="7836408" y="622706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 4–8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9509760" y="6272784"/>
            <a:ext cx="201168" cy="201168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86" name="Text 84"/>
          <p:cNvSpPr/>
          <p:nvPr/>
        </p:nvSpPr>
        <p:spPr>
          <a:xfrm>
            <a:off x="9802368" y="622706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Opportunistic  1–3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 — a complete chaos engineering package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Chaos Engineering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5120640" cy="987552"/>
          </a:xfrm>
          <a:prstGeom prst="roundRect">
            <a:avLst>
              <a:gd name="adj" fmla="val 6481"/>
            </a:avLst>
          </a:prstGeom>
          <a:solidFill>
            <a:srgbClr val="FAFBFC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34416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4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areas ranked by computed risk, each with its reason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5120640" cy="987552"/>
          </a:xfrm>
          <a:prstGeom prst="roundRect">
            <a:avLst>
              <a:gd name="adj" fmla="val 6481"/>
            </a:avLst>
          </a:prstGeom>
          <a:solidFill>
            <a:srgbClr val="FAFBFC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5973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4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Catalog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77240" y="280720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Hypothesis, evidence-cited “why”, tooling, score, wave, status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465576"/>
            <a:ext cx="5120640" cy="987552"/>
          </a:xfrm>
          <a:prstGeom prst="roundRect">
            <a:avLst>
              <a:gd name="adj" fmla="val 6481"/>
            </a:avLst>
          </a:prstGeom>
          <a:solidFill>
            <a:srgbClr val="FAFBFC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57530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4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Assertion Matrix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7240" y="392277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scenario × journey: the exact pass condition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581144"/>
            <a:ext cx="5120640" cy="987552"/>
          </a:xfrm>
          <a:prstGeom prst="roundRect">
            <a:avLst>
              <a:gd name="adj" fmla="val 6481"/>
            </a:avLst>
          </a:prstGeom>
          <a:solidFill>
            <a:srgbClr val="FAFBFC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69087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4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Gaps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77240" y="50383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NOT generated, and why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309360" y="123444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9050">
            <a:solidFill>
              <a:srgbClr val="1A1D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1234440"/>
            <a:ext cx="5349240" cy="502920"/>
          </a:xfrm>
          <a:prstGeom prst="rect">
            <a:avLst/>
          </a:prstGeom>
          <a:solidFill>
            <a:srgbClr val="F2F4F7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134416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dashboard — single file, no server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10528" y="1892808"/>
            <a:ext cx="89044" cy="201168"/>
          </a:xfrm>
          <a:prstGeom prst="rect">
            <a:avLst/>
          </a:prstGeom>
          <a:solidFill>
            <a:srgbClr val="C0361D"/>
          </a:solidFill>
          <a:ln/>
        </p:spPr>
      </p:sp>
      <p:sp>
        <p:nvSpPr>
          <p:cNvPr id="21" name="Shape 19"/>
          <p:cNvSpPr/>
          <p:nvPr/>
        </p:nvSpPr>
        <p:spPr>
          <a:xfrm>
            <a:off x="6634201" y="1892808"/>
            <a:ext cx="89044" cy="201168"/>
          </a:xfrm>
          <a:prstGeom prst="rect">
            <a:avLst/>
          </a:prstGeom>
          <a:solidFill>
            <a:srgbClr val="C0361D"/>
          </a:solidFill>
          <a:ln/>
        </p:spPr>
      </p:sp>
      <p:sp>
        <p:nvSpPr>
          <p:cNvPr id="22" name="Shape 20"/>
          <p:cNvSpPr/>
          <p:nvPr/>
        </p:nvSpPr>
        <p:spPr>
          <a:xfrm>
            <a:off x="6757873" y="1892808"/>
            <a:ext cx="89044" cy="201168"/>
          </a:xfrm>
          <a:prstGeom prst="rect">
            <a:avLst/>
          </a:prstGeom>
          <a:solidFill>
            <a:srgbClr val="C0361D"/>
          </a:solidFill>
          <a:ln/>
        </p:spPr>
      </p:sp>
      <p:sp>
        <p:nvSpPr>
          <p:cNvPr id="23" name="Shape 21"/>
          <p:cNvSpPr/>
          <p:nvPr/>
        </p:nvSpPr>
        <p:spPr>
          <a:xfrm>
            <a:off x="6881546" y="1892808"/>
            <a:ext cx="89044" cy="201168"/>
          </a:xfrm>
          <a:prstGeom prst="rect">
            <a:avLst/>
          </a:prstGeom>
          <a:solidFill>
            <a:srgbClr val="C0361D"/>
          </a:solidFill>
          <a:ln/>
        </p:spPr>
      </p:sp>
      <p:sp>
        <p:nvSpPr>
          <p:cNvPr id="24" name="Shape 22"/>
          <p:cNvSpPr/>
          <p:nvPr/>
        </p:nvSpPr>
        <p:spPr>
          <a:xfrm>
            <a:off x="7005218" y="1892808"/>
            <a:ext cx="89044" cy="201168"/>
          </a:xfrm>
          <a:prstGeom prst="rect">
            <a:avLst/>
          </a:prstGeom>
          <a:solidFill>
            <a:srgbClr val="C0361D"/>
          </a:solidFill>
          <a:ln/>
        </p:spPr>
      </p:sp>
      <p:sp>
        <p:nvSpPr>
          <p:cNvPr id="25" name="Shape 23"/>
          <p:cNvSpPr/>
          <p:nvPr/>
        </p:nvSpPr>
        <p:spPr>
          <a:xfrm>
            <a:off x="7128891" y="1892808"/>
            <a:ext cx="89044" cy="201168"/>
          </a:xfrm>
          <a:prstGeom prst="rect">
            <a:avLst/>
          </a:prstGeom>
          <a:solidFill>
            <a:srgbClr val="9A6A14"/>
          </a:solidFill>
          <a:ln/>
        </p:spPr>
      </p:sp>
      <p:sp>
        <p:nvSpPr>
          <p:cNvPr id="26" name="Shape 24"/>
          <p:cNvSpPr/>
          <p:nvPr/>
        </p:nvSpPr>
        <p:spPr>
          <a:xfrm>
            <a:off x="7252564" y="1892808"/>
            <a:ext cx="89044" cy="201168"/>
          </a:xfrm>
          <a:prstGeom prst="rect">
            <a:avLst/>
          </a:prstGeom>
          <a:solidFill>
            <a:srgbClr val="9A6A14"/>
          </a:solidFill>
          <a:ln/>
        </p:spPr>
      </p:sp>
      <p:sp>
        <p:nvSpPr>
          <p:cNvPr id="27" name="Shape 25"/>
          <p:cNvSpPr/>
          <p:nvPr/>
        </p:nvSpPr>
        <p:spPr>
          <a:xfrm>
            <a:off x="7376236" y="1892808"/>
            <a:ext cx="89044" cy="201168"/>
          </a:xfrm>
          <a:prstGeom prst="rect">
            <a:avLst/>
          </a:prstGeom>
          <a:solidFill>
            <a:srgbClr val="9A6A14"/>
          </a:solidFill>
          <a:ln/>
        </p:spPr>
      </p:sp>
      <p:sp>
        <p:nvSpPr>
          <p:cNvPr id="28" name="Shape 26"/>
          <p:cNvSpPr/>
          <p:nvPr/>
        </p:nvSpPr>
        <p:spPr>
          <a:xfrm>
            <a:off x="7499909" y="1892808"/>
            <a:ext cx="89044" cy="201168"/>
          </a:xfrm>
          <a:prstGeom prst="rect">
            <a:avLst/>
          </a:prstGeom>
          <a:solidFill>
            <a:srgbClr val="9A6A14"/>
          </a:solidFill>
          <a:ln/>
        </p:spPr>
      </p:sp>
      <p:sp>
        <p:nvSpPr>
          <p:cNvPr id="29" name="Shape 27"/>
          <p:cNvSpPr/>
          <p:nvPr/>
        </p:nvSpPr>
        <p:spPr>
          <a:xfrm>
            <a:off x="7623581" y="1892808"/>
            <a:ext cx="89044" cy="201168"/>
          </a:xfrm>
          <a:prstGeom prst="rect">
            <a:avLst/>
          </a:prstGeom>
          <a:solidFill>
            <a:srgbClr val="9A6A14"/>
          </a:solidFill>
          <a:ln/>
        </p:spPr>
      </p:sp>
      <p:sp>
        <p:nvSpPr>
          <p:cNvPr id="30" name="Shape 28"/>
          <p:cNvSpPr/>
          <p:nvPr/>
        </p:nvSpPr>
        <p:spPr>
          <a:xfrm>
            <a:off x="7747254" y="1892808"/>
            <a:ext cx="89044" cy="201168"/>
          </a:xfrm>
          <a:prstGeom prst="rect">
            <a:avLst/>
          </a:prstGeom>
          <a:solidFill>
            <a:srgbClr val="9A6A14"/>
          </a:solidFill>
          <a:ln/>
        </p:spPr>
      </p:sp>
      <p:sp>
        <p:nvSpPr>
          <p:cNvPr id="31" name="Shape 29"/>
          <p:cNvSpPr/>
          <p:nvPr/>
        </p:nvSpPr>
        <p:spPr>
          <a:xfrm>
            <a:off x="7870927" y="1892808"/>
            <a:ext cx="89044" cy="201168"/>
          </a:xfrm>
          <a:prstGeom prst="rect">
            <a:avLst/>
          </a:prstGeom>
          <a:solidFill>
            <a:srgbClr val="9A6A1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4599" y="1892808"/>
            <a:ext cx="89044" cy="201168"/>
          </a:xfrm>
          <a:prstGeom prst="rect">
            <a:avLst/>
          </a:prstGeom>
          <a:solidFill>
            <a:srgbClr val="9A6A14"/>
          </a:solidFill>
          <a:ln/>
        </p:spPr>
      </p:sp>
      <p:sp>
        <p:nvSpPr>
          <p:cNvPr id="33" name="Shape 31"/>
          <p:cNvSpPr/>
          <p:nvPr/>
        </p:nvSpPr>
        <p:spPr>
          <a:xfrm>
            <a:off x="8118272" y="1892808"/>
            <a:ext cx="89044" cy="201168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34" name="Shape 32"/>
          <p:cNvSpPr/>
          <p:nvPr/>
        </p:nvSpPr>
        <p:spPr>
          <a:xfrm>
            <a:off x="8241944" y="1892808"/>
            <a:ext cx="89044" cy="201168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35" name="Shape 33"/>
          <p:cNvSpPr/>
          <p:nvPr/>
        </p:nvSpPr>
        <p:spPr>
          <a:xfrm>
            <a:off x="8365617" y="1892808"/>
            <a:ext cx="89044" cy="201168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36" name="Shape 34"/>
          <p:cNvSpPr/>
          <p:nvPr/>
        </p:nvSpPr>
        <p:spPr>
          <a:xfrm>
            <a:off x="8489290" y="1892808"/>
            <a:ext cx="89044" cy="201168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37" name="Shape 35"/>
          <p:cNvSpPr/>
          <p:nvPr/>
        </p:nvSpPr>
        <p:spPr>
          <a:xfrm>
            <a:off x="8612962" y="1892808"/>
            <a:ext cx="89044" cy="201168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38" name="Shape 36"/>
          <p:cNvSpPr/>
          <p:nvPr/>
        </p:nvSpPr>
        <p:spPr>
          <a:xfrm>
            <a:off x="8736635" y="1892808"/>
            <a:ext cx="89044" cy="201168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39" name="Shape 37"/>
          <p:cNvSpPr/>
          <p:nvPr/>
        </p:nvSpPr>
        <p:spPr>
          <a:xfrm>
            <a:off x="8860307" y="1892808"/>
            <a:ext cx="89044" cy="201168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40" name="Shape 38"/>
          <p:cNvSpPr/>
          <p:nvPr/>
        </p:nvSpPr>
        <p:spPr>
          <a:xfrm>
            <a:off x="8983980" y="1892808"/>
            <a:ext cx="89044" cy="201168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41" name="Shape 39"/>
          <p:cNvSpPr/>
          <p:nvPr/>
        </p:nvSpPr>
        <p:spPr>
          <a:xfrm>
            <a:off x="9107653" y="1892808"/>
            <a:ext cx="89044" cy="201168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42" name="Shape 40"/>
          <p:cNvSpPr/>
          <p:nvPr/>
        </p:nvSpPr>
        <p:spPr>
          <a:xfrm>
            <a:off x="9231325" y="1892808"/>
            <a:ext cx="89044" cy="201168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43" name="Shape 41"/>
          <p:cNvSpPr/>
          <p:nvPr/>
        </p:nvSpPr>
        <p:spPr>
          <a:xfrm>
            <a:off x="9354998" y="1892808"/>
            <a:ext cx="89044" cy="201168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44" name="Shape 42"/>
          <p:cNvSpPr/>
          <p:nvPr/>
        </p:nvSpPr>
        <p:spPr>
          <a:xfrm>
            <a:off x="9478670" y="1892808"/>
            <a:ext cx="89044" cy="201168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45" name="Shape 43"/>
          <p:cNvSpPr/>
          <p:nvPr/>
        </p:nvSpPr>
        <p:spPr>
          <a:xfrm>
            <a:off x="9602343" y="1892808"/>
            <a:ext cx="89044" cy="201168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46" name="Shape 44"/>
          <p:cNvSpPr/>
          <p:nvPr/>
        </p:nvSpPr>
        <p:spPr>
          <a:xfrm>
            <a:off x="9726016" y="1892808"/>
            <a:ext cx="89044" cy="201168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47" name="Shape 45"/>
          <p:cNvSpPr/>
          <p:nvPr/>
        </p:nvSpPr>
        <p:spPr>
          <a:xfrm>
            <a:off x="9849688" y="1892808"/>
            <a:ext cx="89044" cy="201168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48" name="Shape 46"/>
          <p:cNvSpPr/>
          <p:nvPr/>
        </p:nvSpPr>
        <p:spPr>
          <a:xfrm>
            <a:off x="9973361" y="1892808"/>
            <a:ext cx="89044" cy="201168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49" name="Shape 47"/>
          <p:cNvSpPr/>
          <p:nvPr/>
        </p:nvSpPr>
        <p:spPr>
          <a:xfrm>
            <a:off x="10097033" y="1892808"/>
            <a:ext cx="89044" cy="201168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50" name="Shape 48"/>
          <p:cNvSpPr/>
          <p:nvPr/>
        </p:nvSpPr>
        <p:spPr>
          <a:xfrm>
            <a:off x="10220706" y="1892808"/>
            <a:ext cx="89044" cy="201168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51" name="Shape 49"/>
          <p:cNvSpPr/>
          <p:nvPr/>
        </p:nvSpPr>
        <p:spPr>
          <a:xfrm>
            <a:off x="10344379" y="1892808"/>
            <a:ext cx="89044" cy="201168"/>
          </a:xfrm>
          <a:prstGeom prst="rect">
            <a:avLst/>
          </a:prstGeom>
          <a:solidFill>
            <a:srgbClr val="24449C"/>
          </a:solidFill>
          <a:ln/>
        </p:spPr>
      </p:sp>
      <p:sp>
        <p:nvSpPr>
          <p:cNvPr id="52" name="Shape 50"/>
          <p:cNvSpPr/>
          <p:nvPr/>
        </p:nvSpPr>
        <p:spPr>
          <a:xfrm>
            <a:off x="10468051" y="1892808"/>
            <a:ext cx="89044" cy="201168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53" name="Shape 51"/>
          <p:cNvSpPr/>
          <p:nvPr/>
        </p:nvSpPr>
        <p:spPr>
          <a:xfrm>
            <a:off x="10591724" y="1892808"/>
            <a:ext cx="89044" cy="201168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54" name="Shape 52"/>
          <p:cNvSpPr/>
          <p:nvPr/>
        </p:nvSpPr>
        <p:spPr>
          <a:xfrm>
            <a:off x="10715396" y="1892808"/>
            <a:ext cx="89044" cy="201168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55" name="Shape 53"/>
          <p:cNvSpPr/>
          <p:nvPr/>
        </p:nvSpPr>
        <p:spPr>
          <a:xfrm>
            <a:off x="10839069" y="1892808"/>
            <a:ext cx="89044" cy="201168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56" name="Shape 54"/>
          <p:cNvSpPr/>
          <p:nvPr/>
        </p:nvSpPr>
        <p:spPr>
          <a:xfrm>
            <a:off x="10962742" y="1892808"/>
            <a:ext cx="89044" cy="201168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57" name="Shape 55"/>
          <p:cNvSpPr/>
          <p:nvPr/>
        </p:nvSpPr>
        <p:spPr>
          <a:xfrm>
            <a:off x="11086414" y="1892808"/>
            <a:ext cx="89044" cy="201168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58" name="Shape 56"/>
          <p:cNvSpPr/>
          <p:nvPr/>
        </p:nvSpPr>
        <p:spPr>
          <a:xfrm>
            <a:off x="11210087" y="1892808"/>
            <a:ext cx="89044" cy="201168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59" name="Shape 57"/>
          <p:cNvSpPr/>
          <p:nvPr/>
        </p:nvSpPr>
        <p:spPr>
          <a:xfrm>
            <a:off x="11333759" y="1892808"/>
            <a:ext cx="89044" cy="201168"/>
          </a:xfrm>
          <a:prstGeom prst="rect">
            <a:avLst/>
          </a:prstGeom>
          <a:solidFill>
            <a:srgbClr val="8B93A1"/>
          </a:solidFill>
          <a:ln/>
        </p:spPr>
      </p:sp>
      <p:sp>
        <p:nvSpPr>
          <p:cNvPr id="60" name="Shape 58"/>
          <p:cNvSpPr/>
          <p:nvPr/>
        </p:nvSpPr>
        <p:spPr>
          <a:xfrm>
            <a:off x="6510528" y="225856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510528" y="22860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Search…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27264" y="2258568"/>
            <a:ext cx="658368" cy="292608"/>
          </a:xfrm>
          <a:prstGeom prst="roundRect">
            <a:avLst>
              <a:gd name="adj" fmla="val 50000"/>
            </a:avLst>
          </a:prstGeom>
          <a:solidFill>
            <a:srgbClr val="EEF2FC"/>
          </a:solidFill>
          <a:ln w="9525">
            <a:solidFill>
              <a:srgbClr val="24449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27264" y="228600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4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8613648" y="2258568"/>
            <a:ext cx="603504" cy="292608"/>
          </a:xfrm>
          <a:prstGeom prst="roundRect">
            <a:avLst>
              <a:gd name="adj" fmla="val 50000"/>
            </a:avLst>
          </a:prstGeom>
          <a:solidFill>
            <a:srgbClr val="EEF2FC"/>
          </a:solidFill>
          <a:ln w="9525">
            <a:solidFill>
              <a:srgbClr val="24449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613648" y="2286000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4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9345168" y="225856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EF2FC"/>
          </a:solidFill>
          <a:ln w="9525">
            <a:solidFill>
              <a:srgbClr val="24449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345168" y="22860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4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10661904" y="2258568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EEF2FC"/>
          </a:solidFill>
          <a:ln w="9525">
            <a:solidFill>
              <a:srgbClr val="24449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61904" y="228600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4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6510528" y="2715768"/>
            <a:ext cx="494690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629400" y="28072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GEN-DWN-05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8046720" y="2807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DEFECT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10287000" y="2798064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C0361D">
              <a:alpha val="20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0" y="28163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10927080" y="2798064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▾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6510528" y="3209544"/>
            <a:ext cx="494690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629400" y="3300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GEN-APP-02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8046720" y="330098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6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evidence-confirmed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10287000" y="3291840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1E6E46">
              <a:alpha val="20000"/>
            </a:srgbClr>
          </a:solidFill>
          <a:ln/>
        </p:spPr>
      </p:sp>
      <p:sp>
        <p:nvSpPr>
          <p:cNvPr id="80" name="Text 78"/>
          <p:cNvSpPr/>
          <p:nvPr/>
        </p:nvSpPr>
        <p:spPr>
          <a:xfrm>
            <a:off x="10287000" y="331012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6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10927080" y="329184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▾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510528" y="3703320"/>
            <a:ext cx="494690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629400" y="37947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GEN-INF-11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8046720" y="37947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6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10287000" y="3785616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9A6A14">
              <a:alpha val="20000"/>
            </a:srgbClr>
          </a:solidFill>
          <a:ln/>
        </p:spPr>
      </p:sp>
      <p:sp>
        <p:nvSpPr>
          <p:cNvPr id="86" name="Text 84"/>
          <p:cNvSpPr/>
          <p:nvPr/>
        </p:nvSpPr>
        <p:spPr>
          <a:xfrm>
            <a:off x="10287000" y="380390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6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0927080" y="378561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▾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6510528" y="4197096"/>
            <a:ext cx="494690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629400" y="428853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GEN-UP-03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8046720" y="42885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6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evidence-confirmed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10287000" y="427939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1E6E46">
              <a:alpha val="20000"/>
            </a:srgbClr>
          </a:solidFill>
          <a:ln/>
        </p:spPr>
      </p:sp>
      <p:sp>
        <p:nvSpPr>
          <p:cNvPr id="92" name="Text 90"/>
          <p:cNvSpPr/>
          <p:nvPr/>
        </p:nvSpPr>
        <p:spPr>
          <a:xfrm>
            <a:off x="10287000" y="42976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6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10927080" y="427939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▾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6510528" y="4690872"/>
            <a:ext cx="494690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629400" y="47823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GEN-SAGA-01</a:t>
            </a:r>
            <a:endParaRPr lang="en-US" sz="900" dirty="0"/>
          </a:p>
        </p:txBody>
      </p:sp>
      <p:sp>
        <p:nvSpPr>
          <p:cNvPr id="96" name="Text 94"/>
          <p:cNvSpPr/>
          <p:nvPr/>
        </p:nvSpPr>
        <p:spPr>
          <a:xfrm>
            <a:off x="8046720" y="4782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44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950" dirty="0"/>
          </a:p>
        </p:txBody>
      </p:sp>
      <p:sp>
        <p:nvSpPr>
          <p:cNvPr id="97" name="Shape 95"/>
          <p:cNvSpPr/>
          <p:nvPr/>
        </p:nvSpPr>
        <p:spPr>
          <a:xfrm>
            <a:off x="10287000" y="4773168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24449C">
              <a:alpha val="20000"/>
            </a:srgbClr>
          </a:solidFill>
          <a:ln/>
        </p:spPr>
      </p:sp>
      <p:sp>
        <p:nvSpPr>
          <p:cNvPr id="98" name="Text 96"/>
          <p:cNvSpPr/>
          <p:nvPr/>
        </p:nvSpPr>
        <p:spPr>
          <a:xfrm>
            <a:off x="10287000" y="479145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44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10927080" y="477316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▾</a:t>
            </a:r>
            <a:endParaRPr lang="en-US" sz="900" dirty="0"/>
          </a:p>
        </p:txBody>
      </p:sp>
      <p:sp>
        <p:nvSpPr>
          <p:cNvPr id="100" name="Text 98"/>
          <p:cNvSpPr/>
          <p:nvPr/>
        </p:nvSpPr>
        <p:spPr>
          <a:xfrm>
            <a:off x="548640" y="5577840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consumption modes from one run: the workbook is the team’s writable working copy; the dashboard is the review and leadership surface.</a:t>
            </a:r>
            <a:endParaRPr lang="en-US" sz="1300" dirty="0"/>
          </a:p>
        </p:txBody>
      </p:sp>
      <p:sp>
        <p:nvSpPr>
          <p:cNvPr id="101" name="Text 99"/>
          <p:cNvSpPr/>
          <p:nvPr/>
        </p:nvSpPr>
        <p:spPr>
          <a:xfrm>
            <a:off x="548640" y="60350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visible in every row:  </a:t>
            </a:r>
            <a:pPr indent="0" marL="0">
              <a:buNone/>
            </a:pPr>
            <a:r>
              <a:rPr lang="en-US" sz="1300" b="1" dirty="0">
                <a:solidFill>
                  <a:srgbClr val="1E6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evidence-confirmed</a:t>
            </a:r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›  </a:t>
            </a:r>
            <a:pPr indent="0" marL="0">
              <a:buNone/>
            </a:pPr>
            <a:r>
              <a:rPr lang="en-US" sz="1300" b="1" dirty="0">
                <a:solidFill>
                  <a:srgbClr val="9A6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declared, pending scan</a:t>
            </a:r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›  </a:t>
            </a:r>
            <a:pPr indent="0" marL="0">
              <a:buNone/>
            </a:pPr>
            <a:r>
              <a:rPr lang="en-US" sz="1300" b="1" dirty="0">
                <a:solidFill>
                  <a:srgbClr val="C03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defect — fix first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worth doing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Chaos Engineering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109960" cy="886968"/>
          </a:xfrm>
          <a:prstGeom prst="roundRect">
            <a:avLst>
              <a:gd name="adj" fmla="val 7216"/>
            </a:avLst>
          </a:prstGeom>
          <a:solidFill>
            <a:srgbClr val="FAFBFC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36192"/>
            <a:ext cx="365760" cy="365760"/>
          </a:xfrm>
          <a:prstGeom prst="ellipse">
            <a:avLst/>
          </a:prstGeom>
          <a:solidFill>
            <a:srgbClr val="24449C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139903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what actually matters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577840" y="14173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target weaknesses found in this platform’s code and infrastructure — not a textbook’s.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258568"/>
            <a:ext cx="11109960" cy="886968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C0361D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23774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defects before injecting anything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577840" y="2395728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“scenarios” turn out to be bugs the scan already proves — filed and fixed without running an experiment.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36976"/>
            <a:ext cx="11109960" cy="886968"/>
          </a:xfrm>
          <a:prstGeom prst="roundRect">
            <a:avLst>
              <a:gd name="adj" fmla="val 7216"/>
            </a:avLst>
          </a:prstGeom>
          <a:solidFill>
            <a:srgbClr val="FAFBFC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493008"/>
            <a:ext cx="365760" cy="365760"/>
          </a:xfrm>
          <a:prstGeom prst="ellipse">
            <a:avLst/>
          </a:prstGeom>
          <a:solidFill>
            <a:srgbClr val="9A6A14"/>
          </a:solidFill>
          <a:ln/>
        </p:spPr>
      </p:sp>
      <p:sp>
        <p:nvSpPr>
          <p:cNvPr id="15" name="Text 13"/>
          <p:cNvSpPr/>
          <p:nvPr/>
        </p:nvSpPr>
        <p:spPr>
          <a:xfrm>
            <a:off x="1417320" y="335584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about test-environment validity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577840" y="3374136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test environment differs from production, results are labeled — no false confidence.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215384"/>
            <a:ext cx="11109960" cy="886968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471416"/>
            <a:ext cx="365760" cy="365760"/>
          </a:xfrm>
          <a:prstGeom prst="ellipse">
            <a:avLst/>
          </a:prstGeom>
          <a:solidFill>
            <a:srgbClr val="1E6E46"/>
          </a:solidFill>
          <a:ln/>
        </p:spPr>
      </p:sp>
      <p:sp>
        <p:nvSpPr>
          <p:cNvPr id="19" name="Text 17"/>
          <p:cNvSpPr/>
          <p:nvPr/>
        </p:nvSpPr>
        <p:spPr>
          <a:xfrm>
            <a:off x="1417320" y="433425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Repeatable and self-extending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577840" y="4352544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service or journey → re-run → updated package. The evidence rules are the durable asset.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193792"/>
            <a:ext cx="11109960" cy="886968"/>
          </a:xfrm>
          <a:prstGeom prst="roundRect">
            <a:avLst>
              <a:gd name="adj" fmla="val 7216"/>
            </a:avLst>
          </a:prstGeom>
          <a:solidFill>
            <a:srgbClr val="FAFBFC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5449824"/>
            <a:ext cx="365760" cy="365760"/>
          </a:xfrm>
          <a:prstGeom prst="ellipse">
            <a:avLst/>
          </a:prstGeom>
          <a:solidFill>
            <a:srgbClr val="24449C"/>
          </a:solidFill>
          <a:ln/>
        </p:spPr>
      </p:sp>
      <p:sp>
        <p:nvSpPr>
          <p:cNvPr id="23" name="Text 21"/>
          <p:cNvSpPr/>
          <p:nvPr/>
        </p:nvSpPr>
        <p:spPr>
          <a:xfrm>
            <a:off x="1417320" y="531266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progress metric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577840" y="5330952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Declared-to-confirmed ratio IS scan completion; gaps and defects are counted, not hidden.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126480"/>
            <a:ext cx="11109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is the one-time debt payment. What follows is a resilience practice that keeps pace with the platform.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2026-07-22T15:56:48Z</dcterms:created>
  <dcterms:modified xsi:type="dcterms:W3CDTF">2026-07-22T15:56:48Z</dcterms:modified>
</cp:coreProperties>
</file>